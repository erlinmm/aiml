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37160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udsonrivertrading.com/machine-learning/" TargetMode="External"/><Relationship Id="rId3" Type="http://schemas.openxmlformats.org/officeDocument/2006/relationships/hyperlink" Target="https://www.hudsonrivertrading.com/hrt-job/ai-researcher-llms-2/" TargetMode="External"/><Relationship Id="rId4" Type="http://schemas.openxmlformats.org/officeDocument/2006/relationships/hyperlink" Target="https://www.hudsonrivertrading.com/hrt-job/experienced-software-engineer-ai-tools-2/" TargetMode="External"/><Relationship Id="rId5" Type="http://schemas.openxmlformats.org/officeDocument/2006/relationships/hyperlink" Target="https://omny.fm/shows/odd-lots/inside-hudson-river-tradings-blistering-token-bur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umptrading.com/ai-ml" TargetMode="External"/><Relationship Id="rId3" Type="http://schemas.openxmlformats.org/officeDocument/2006/relationships/hyperlink" Target="https://icml.cc/virtual/2026/75722" TargetMode="External"/><Relationship Id="rId4" Type="http://schemas.openxmlformats.org/officeDocument/2006/relationships/hyperlink" Target="https://iclr.cc/Expo/Conferences/2026/Exp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anestreet.com/join-jane-street/machine-learning/" TargetMode="External"/><Relationship Id="rId3" Type="http://schemas.openxmlformats.org/officeDocument/2006/relationships/hyperlink" Target="https://www.janestreet.com/join-jane-street/programs-and-events/visiting-researcher/" TargetMode="External"/><Relationship Id="rId4" Type="http://schemas.openxmlformats.org/officeDocument/2006/relationships/hyperlink" Target="https://ai.engineer/talks/building-ai-powered-developer-tools-at-jane-stree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xtxmarkets.com/" TargetMode="External"/><Relationship Id="rId3" Type="http://schemas.openxmlformats.org/officeDocument/2006/relationships/hyperlink" Target="https://www.xtxmarkets.com/tech/2025-ternfs/" TargetMode="External"/><Relationship Id="rId4" Type="http://schemas.openxmlformats.org/officeDocument/2006/relationships/hyperlink" Target="https://careerservices.fas.harvard.edu/jobs/xtx-markets-quantitative-researcher-deep-learning/" TargetMode="External"/><Relationship Id="rId5" Type="http://schemas.openxmlformats.org/officeDocument/2006/relationships/hyperlink" Target="https://job-boards.greenhouse.io/xtxmarketstechnologies/jobs/627445800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itadelsecurities.com/careers/details/deep-learning-ml-researcher/" TargetMode="External"/><Relationship Id="rId3" Type="http://schemas.openxmlformats.org/officeDocument/2006/relationships/hyperlink" Target="https://www.citadelsecurities.com/careers/details/machine-learning-engineer/" TargetMode="External"/><Relationship Id="rId4" Type="http://schemas.openxmlformats.org/officeDocument/2006/relationships/hyperlink" Target="https://www.reuters.com/business/citadel-debuts-new-ai-tool-equities-investors-cto-subramanian-says-2025-12-03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rldquantbrain.com/consultant" TargetMode="External"/><Relationship Id="rId3" Type="http://schemas.openxmlformats.org/officeDocument/2006/relationships/hyperlink" Target="https://www.worldquant.com/ideas/the-power-of-exponential-thinking/" TargetMode="External"/><Relationship Id="rId4" Type="http://schemas.openxmlformats.org/officeDocument/2006/relationships/hyperlink" Target="https://www.oreilly.com/library/view/finding-alphas-2nd/9781119571216/f04.x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wosigma.com/businesses/investment-management/" TargetMode="External"/><Relationship Id="rId3" Type="http://schemas.openxmlformats.org/officeDocument/2006/relationships/hyperlink" Target="https://www.twosigma.com/articles/treating-data-as-code-at-two-sigma/" TargetMode="External"/><Relationship Id="rId4" Type="http://schemas.openxmlformats.org/officeDocument/2006/relationships/hyperlink" Target="https://www.sec.gov/files/litigation/admin/2025/34-102207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orldquantbrain.com/consultant" TargetMode="External"/><Relationship Id="rId3" Type="http://schemas.openxmlformats.org/officeDocument/2006/relationships/hyperlink" Target="https://www.hudsonrivertrading.com/machine-learning/" TargetMode="External"/><Relationship Id="rId4" Type="http://schemas.openxmlformats.org/officeDocument/2006/relationships/hyperlink" Target="https://icml.cc/virtual/2026/75722" TargetMode="External"/><Relationship Id="rId5" Type="http://schemas.openxmlformats.org/officeDocument/2006/relationships/hyperlink" Target="https://www.twosigma.com/articles/treating-data-as-code-at-two-sigma/" TargetMode="External"/><Relationship Id="rId6" Type="http://schemas.openxmlformats.org/officeDocument/2006/relationships/hyperlink" Target="https://www.janestreet.com/join-jane-street/machine-learning/" TargetMode="External"/><Relationship Id="rId7" Type="http://schemas.openxmlformats.org/officeDocument/2006/relationships/hyperlink" Target="https://ai.engineer/talks/building-ai-powered-developer-tools-at-jane-street" TargetMode="External"/><Relationship Id="rId8" Type="http://schemas.openxmlformats.org/officeDocument/2006/relationships/hyperlink" Target="https://www.reuters.com/business/citadel-debuts-new-ai-tool-equities-investors-cto-subramanian-says-2025-12-03/" TargetMode="External"/><Relationship Id="rId9" Type="http://schemas.openxmlformats.org/officeDocument/2006/relationships/hyperlink" Target="https://www.xtxmarkets.com/" TargetMode="External"/><Relationship Id="rId10" Type="http://schemas.openxmlformats.org/officeDocument/2006/relationships/hyperlink" Target="https://www.citadelsecurities.com/careers/details/deep-learning-ml-researcher/" TargetMode="External"/><Relationship Id="rId11" Type="http://schemas.openxmlformats.org/officeDocument/2006/relationships/hyperlink" Target="https://www.sec.gov/files/litigation/admin/2025/34-102207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i.stanford.edu/ai-index/2026-ai-index-report" TargetMode="External"/><Relationship Id="rId3" Type="http://schemas.openxmlformats.org/officeDocument/2006/relationships/hyperlink" Target="https://openai.com/products/release-notes/" TargetMode="External"/><Relationship Id="rId4" Type="http://schemas.openxmlformats.org/officeDocument/2006/relationships/hyperlink" Target="https://platform.claude.com/docs/en/release-notes/overview" TargetMode="External"/><Relationship Id="rId5" Type="http://schemas.openxmlformats.org/officeDocument/2006/relationships/hyperlink" Target="https://worldquantbrain.com/consultant" TargetMode="External"/><Relationship Id="rId6" Type="http://schemas.openxmlformats.org/officeDocument/2006/relationships/hyperlink" Target="https://www.hudsonrivertrading.com/machine-learning/" TargetMode="External"/><Relationship Id="rId7" Type="http://schemas.openxmlformats.org/officeDocument/2006/relationships/hyperlink" Target="https://www.janestreet.com/join-jane-street/machine-learning/" TargetMode="External"/><Relationship Id="rId8" Type="http://schemas.openxmlformats.org/officeDocument/2006/relationships/hyperlink" Target="https://www.xtxmarkets.com/" TargetMode="External"/><Relationship Id="rId9" Type="http://schemas.openxmlformats.org/officeDocument/2006/relationships/hyperlink" Target="https://www.citadelsecurities.com/careers/details/deep-learning-ml-researcher/" TargetMode="External"/><Relationship Id="rId10" Type="http://schemas.openxmlformats.org/officeDocument/2006/relationships/hyperlink" Target="https://icml.cc/virtual/2026/75722" TargetMode="External"/><Relationship Id="rId11" Type="http://schemas.openxmlformats.org/officeDocument/2006/relationships/hyperlink" Target="https://www.twosigma.com/articles/treating-data-as-code-at-two-sigma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88920"/>
            <a:ext cx="118872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212C"/>
                </a:solidFill>
                <a:latin typeface="Arial"/>
              </a:rPr>
              <a:t>How firms are organizing quantitative work around stronger machine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862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20" b="0">
                <a:solidFill>
                  <a:srgbClr val="66727E"/>
                </a:solidFill>
                <a:latin typeface="Arial"/>
              </a:rPr>
              <a:t>A compact review for a Markets Quant audience: research workflow, data, controls, software plumbing and reusable knowledge.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Hudson River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HRT: machine work is embedded in a firm-level research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Public materials link predictive models, internal language-model work, tool access, evaluation and trading research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Deep learning is described as core to trading; HAIL develops the firm’s most powerful models.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work on featurization, architecture, training dynamics and trading decisions.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LLM role covers tokenizer/data mixture, pre-training, post-training, evaluation and serving.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AI Tools role lists internal-resource access, sandboxing, assistant tooling and coding-agent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define the trading or research question and the evaluation context.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Engineers connect models to internal resources and controlled tools.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Human baselines are used when machine-generated signal ideas are evaluated.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Trading judgement and audited systems remain part of the route from model output to market action.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Machine support is visible around coding, experiment ideas and experiment monitoring.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Define the experiment, the target and the evidence needed to change a research view.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and systems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Model usefulness depends on representation, data mixture, internal resources and safe tooling.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Specify usable market state, data conventions, permissions and tool boundaries.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Predictive models sit inside trading systems rather than as standalone outputs.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Judge whether model behaviour is consistent with trading economics and controls.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Where Hudson River Trading appears to place value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quality: value is placed in useful market representation and task-appropriate data mixture.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pipeline / system wiring: value is placed in internal-resource access, sandboxing and controlled research tools.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Models and strategies: value is placed in trained predictive models and the trading systems around their outputs.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Evaluation and memory: value is placed in human baselines, agent evaluation and feedback into the next research cycle.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Hudson River Trading — Machine Learning &amp; AI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Hudson River Trading — AI Researcher, LLMs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Hudson River Trading — Experienced Software Engineer, AI Tools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Odd Lots — Inside Hudson River Trading’s Blistering Token Burn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Jump Trading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Jump: research agents are treated as finance-specific systems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Jump’s public material gives the clearest view of point-in-time discipline, trace capture and harness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Machine learning is described as integrated across trading, research and core infrastructure.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Examples include time-series forecasting, unstructured-data signal generation, LLM agents and AI-enabled software tools.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Public scale claims include 10,000+ compute nodes, 5M+ simulations daily, 50+ AI tools and 75%+ weekly LLM usage.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ICLR material describes fine-tuned LLMs producing live trading signals and multi-agent forecasts used by human traders and automated strategies.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Quant researchers and engineers supply the real questions used to build historical evaluation cases.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define the point-in-time information set used to judge an answer.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and engineers inspect full traces: documents, tool calls, code, intermediate artefacts and final answers.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Human traders are explicitly named as users of multi-agent forecasts alongside automated strategies.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Agents work on quant and engineering questions inside controlled historical cases.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Define the question, the information set and the conditions under which the answer is valid.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and systems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The harness records documents, tools, code, files and intermediate artefacts.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Keep the workflow reproducible and make each run inspectable after the fact.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Forecasts and signals are connected to traders and automated strategies through evaluation infrastructure.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Review traces, diagnose failure modes and decide how forecasts should be used or monitored.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Where Jump Trading appears to place value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quality: value is placed in point-in-time state and the correct historical information set.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pipeline / system wiring: value is placed in documents, tools, code execution and full run capture.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Models and strategies: value is placed in fine-tuned forecasts and trading signals that can be tested in the harness.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Evaluation and memory: value is placed in trace review, scorecards, failure decomposition and reusable cases.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Jump Trading — AI / ML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ICML 2026 — Multi-Agent System Design and Evaluation for Quantitative Finance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ICLR 2026 Expo — Jump Trading: Domain-Adapted Agents for Quantitative Research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Jane Street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Jane Street: useful model output is shaped by the codebase, data and executable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Jane Street connects neural models to trading strategies and language-model tooling to real developer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Jane Street says its ML team creates neural-network models that drive trading strategies.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Market data is described as noisy, regime-changing and affected by the firm’s own actions.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Researchers, engineers and traders work together to train models, build systems and study model trades in production.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Developer tooling turns language-model output into candidate multi-file diffs checked by build and test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Researchers, engineers and traders jointly study model trades and production behaviour.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Engineers build the infrastructure for model training, inference and software evaluation.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Developers provide workspace context and review candidate code changes inside the editor workflow.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Parser, typechecker, compiler and test outcomes are used as executable feedback.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Trading models are studied in production with researchers, engineers and traders involved.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Define targets and interpret whether production behaviour makes economic sense.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and systems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Code suggestions are useful because they sit inside real workspaces, builds and tests.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Turn expert judgement about code and models into repeatable checks.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Neural models drive strategies; code tools improve the research and engineering workflow.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Preserve useful examples, failures and diagnostics from everyday work.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Where Jane Street appears to place value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quality: value is placed in proprietary market data, production feedback and action-conditioned history.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pipeline / system wiring: value is placed in workspace state, build systems, tests and editor integration.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Models and strategies: value is placed in neural-network models that drive strategies and are studied in production.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Evaluation and memory: value is placed in executable feedback from parsing, typing, compiling and testing.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Jane Street — Machine Learning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Jane Street — Visiting Researcher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AI Engineer World’s Fair — Building AI-Powered Developer Tools at Jane Street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XTX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XTX: the central object is a large forecasting system with heavy data and compute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XTX’s public descriptions are unusually direct about forecasts, instrument breadth and infrastructure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XTX says it uses state-of-the-art machine learning to produce price forecasts for more than 50,000 instruments.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Those forecasts are used to trade on exchanges and alternative venues and to provide differentiated liquidity to clients.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Public roles point to large-scale time-series and cross-sectional prediction and modern deep-learning architectures.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TernFS is described as an exabyte-scale distributed filesystem for machine-learning workloads and high-throughput data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design prediction problems, objectives, evaluation approaches and scaling methods.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Engineers build storage, training and inference performance, compilers, numerics and model-to-hardware mapping.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Trading and client-liquidity systems use forecasts inside market access and pricing workflows.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Compute and storage teams operate the data and performance layer needed by the forecasting system.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Forecasts are produced across a broad instrument universe.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Define targets, horizons, cross-sectional structure and validation rules.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and systems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Storage scale, throughput and model-to-hardware work are part of the public story.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Ensure the forecast system receives reliable, timely and usable data.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Forecasts feed trading, alternative venues and liquidity provision.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Map forecasts into pricing, inventory, execution and liquidity decisions.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Where XTX Markets appears to place value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quality: value is placed in broad, well-structured time-series and cross-sectional data.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pipeline / system wiring: value is placed in TernFS, high-throughput storage and training/inference feeds.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Models and strategies: value is placed in price forecasts used for trading and client liquidity.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Evaluation and memory: value is placed in scalable validation and performance engineering around the forecasting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XTX Markets — firm description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XTX Markets — TernFS: an exabyte-scale distributed filesystem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Harvard Mignone Center — XTX Markets Quantitative Researcher, Deep Learning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XTX Markets — XTY Labs: Machine Learning Scientist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Citadel / Citadel Securities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Citadel Securities: predictive models are connected to live market-making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The clearest public material comes from market-making roles; Citadel’s equities assistant gives a separate investor-workflow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Citadel Securities roles describe models built and deployed across equities, options, fixed income and derivatives using petabyte-scale data.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Model techniques include deep learning, sequence/time-series methods, representation learning and robustness across regimes.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stated goal is measurable P&amp;L impact or reduced risk/cost in live market-making or trading contexts.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A machine-learning engineering role describes internal deep-learning libraries and distributed workflows used by many researchers.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connect modeling work to market-making objectives and business processes.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Engineers maintain shared libraries and performance infrastructure for repeated model development.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Citadel equities investors use an assistant built on licensed research, filings, transcripts and internal strategy context.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Investor judgement remains connected to portfolio and strategy context in the reported assistant workflow.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Predictive models are tied to market-making, risk, cost and trading impact.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Connect model design to market-making objectives and economic constraints.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and systems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Shared libraries and distributed workflows support many researchers.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Turn individual model work into reusable departmental capability.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Research tools and models are linked to live trading or investor workflow.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Control which data, context and model outputs are fit for business use.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Where Citadel / Citadel Securities appears to place value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quality: value is placed in petabyte-scale market data and licensed/internal research context.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pipeline / system wiring: value is placed in shared libraries, distributed workflows and investor research tools.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Models and strategies: value is placed in models deployed for live market-making, trading impact or investor workflow.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Evaluation and memory: value is placed in measurable P&amp;L, risk, cost and portfolio-context feedback.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Citadel Securities — Deep Learning ML Researcher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Citadel Securities — Machine Learning Engineer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Reuters — Citadel debuts new AI tool for equities investors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WorldQuant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WorldQuant: a standardized system turns distributed intelligence into alpha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WorldQuant is useful because it scaled a large human research funnel before the current wave of stronger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BRAIN provides a standardized environment for data fields, operators, simulation, competition and alpha submission.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Historical materials report very large candidate-alpha volumes and large research-consultant participation.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Current BRAIN material describes a global consultant community, multiple regions and broad data-field access.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platform makes many independent researchers produce comparable, executable alpha candidates.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institution defines the data, operators, testing surface and submission rules.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and consultants supply candidate alpha ideas at scale.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Public materials describe rankings, competitions, consultant opportunities and potential compensation for qualifying submissions.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accumulated candidate history becomes valuable beyond any single alpha expression.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Distributed researchers generate large volumes of candidate alphas.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Standardize the research surface so candidate intelligence can be compared and reused.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and systems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A common interface gives data fields, operators, simulation and submission workflow.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Separate candidate generation from acceptance into the alpha library or portfolio process.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Selected alphas can become inputs to strategy construction.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Preserve failures, correlations, decay and reusable components.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Where WorldQuant appears to place value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quality: value is placed in standardized data fields and agreed research primitives.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pipeline / system wiring: value is placed in BRAIN/WebSim, operators, simulation and submission workflows.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Models and strategies: value is placed in candidate alphas, selected alphas and strategy construction.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Evaluation and memory: value is placed in originality, correlation, decay and accumulated research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WorldQuant BRAIN — Consultant Program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WorldQuant — The Power of Exponential Thinking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O’Reilly — Finding Alphas, 2nd 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Two Sigma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Two Sigma: data productization and model admission are visible parts of the investment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42415"/>
            <a:ext cx="12070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19" b="0">
                <a:solidFill>
                  <a:srgbClr val="66727E"/>
                </a:solidFill>
                <a:latin typeface="Arial"/>
              </a:rPr>
              <a:t>Two Sigma exposes institutional work around data, models, portfolio construction and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1664208"/>
            <a:ext cx="633679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Machine intelligence in the workflow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Two Sigma describes a platform built on people, technology and data, with sourcing/preparation, modeling, portfolio construction and execution as linked stages.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firm reports 10,000+ structured and unstructured data sources in a proprietary system.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data-as-code article describes versioning, tests, replay, lineage, CI/CD and data contracts.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article notes that LLM and AI applications increase demand for high-quality data and data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1664208"/>
            <a:ext cx="6382512" cy="2130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Human role visible in the material — evidence from the material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Researchers turn data into features and models; portfolio construction combines independent forecasts, costs and risks.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SEC material describes model approval using white papers, key metrics and correlation review.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Portfolio managers decide whether approved models are incorporated into portfolios.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Model files, parameters and production use are controlled objects.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913632"/>
          <a:ext cx="12874752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5486400"/>
                <a:gridCol w="5422392"/>
              </a:tblGrid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Our analysis / informed reading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Responsibility of quants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workflow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Data, modeling, portfolio construction and execution are treated as linked stages.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Keep research connected to portfolio use rather than isolated model output.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and systems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Data is managed with point-in-time state, contracts, tests, lineage and replay.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Maintain reproducible datasets and correct historical information.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Model admission includes documentation, metrics and correlation review.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Judge whether a model or signal adds incremental portfolio value.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559552"/>
            <a:ext cx="12874752" cy="1225296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Where Two Sigma appears to place value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quality: value is placed in point-in-time data, versioning, tests, lineage and data contracts.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Data pipeline / system wiring: value is placed in treating data as a production software asset.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Models and strategies: value is placed in independent forecasts, features and portfolio construction.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Evaluation and memory: value is placed in model approval, parameter control, correlation review and portfolio admission.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Two Sigma — Investment Management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Two Sigma — Treating Data as Code at Two Sigma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SEC — Two Sigma Advisers / Two Sigma Investments Administrative Order, Release No. 102207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Cross-firm reading by value aspect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Where different firms appear to place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664208"/>
          <a:ext cx="128747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3703320"/>
                <a:gridCol w="6748272"/>
              </a:tblGrid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Value aspect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High-focus firms in public material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2B4C64"/>
                          </a:solidFill>
                          <a:latin typeface="Arial"/>
                        </a:rPr>
                        <a:t>What appears to be high value</a:t>
                      </a:r>
                    </a:p>
                  </a:txBody>
                  <a:tcPr marL="45720" marR="36576" marT="27432" marB="27432"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quality / point-in-time state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HIGH: Two Sigma, Jump, Jane Street, Citadel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Reliable history, timestamp discipline, data contracts, proprietary market data and correct information sets.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Data pipeline / system wiring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HIGH: XTX, Jane Street, Two Sigma, HRT, Jump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Storage, data feeds, build/test systems, research APIs, sandboxing, internal tools and workflow integration.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Models and strategies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HIGH: HRT, Jane Street, XTX, Citadel Securities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Trained predictive engines, selected alphas, strategies, forecasts and observed live model behaviour.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Evaluation / admission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HIGH: Jump, Two Sigma, WorldQuant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PIT checks, trace review, scorecards, model documentation, correlation review and acceptance gates.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Compute / hardware / performance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HIGH: XTX, Jump, HRT; visible at Citadel Securities and Jane Street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GPU/compute scale, storage throughput, low-latency systems, compilers, inference and model-to-hardware work.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Research memory / accumulated knowledge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HIGH: WorldQuant, Two Sigma, Jump, Jane Street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Tested candidates, failures, correlations, decay history, code feedback and reusable components.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34424D"/>
                          </a:solidFill>
                          <a:latin typeface="Arial"/>
                        </a:rPr>
                        <a:t>Business integration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HIGH: Citadel Securities, XTX, HRT, Citadel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34424D"/>
                          </a:solidFill>
                          <a:latin typeface="Arial"/>
                        </a:rPr>
                        <a:t>Forecasts and research outputs connected to pricing, liquidity provision, market-making, risk, cost and portfolio workflows.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4048" y="6949440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WorldQuant BRAIN — Consultant Program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Hudson River Trading — Machine Learning &amp; AI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ICML 2026 — Multi-Agent System Design and Evaluation for Quantitative Finance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Two Sigma — Treating Data as Code at Two Sigma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6"/>
              </a:rPr>
              <a:t>Jane Street — Machine Learning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7"/>
              </a:rPr>
              <a:t>AI Engineer World’s Fair — Building AI-Powered Developer Tools at Jane Street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8"/>
              </a:rPr>
              <a:t>Reuters — Citadel debuts new AI tool for equities investors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9"/>
              </a:rPr>
              <a:t>XTX Markets — firm description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10"/>
              </a:rPr>
              <a:t>Citadel Securities — Deep Learning ML Researcher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11"/>
              </a:rPr>
              <a:t>SEC — Two Sigma Advisers / Two Sigma Investments Administrative Order, Release No. 102207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28600"/>
            <a:ext cx="11704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10" b="1">
                <a:solidFill>
                  <a:srgbClr val="2E6C9B"/>
                </a:solidFill>
                <a:latin typeface="Arial"/>
              </a:rPr>
              <a:t>Final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75488"/>
            <a:ext cx="12344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1">
                <a:solidFill>
                  <a:srgbClr val="17212C"/>
                </a:solidFill>
                <a:latin typeface="Arial"/>
              </a:rPr>
              <a:t>Quant roles: from sources of intelligence to miners and enablers of machine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64440" y="256032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700" b="1">
                <a:solidFill>
                  <a:srgbClr val="66727E"/>
                </a:solidFill>
                <a:latin typeface="Arial"/>
              </a:rP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81328"/>
            <a:ext cx="12874752" cy="9144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" y="1664208"/>
            <a:ext cx="12874752" cy="1115568"/>
          </a:xfrm>
          <a:prstGeom prst="roundRect">
            <a:avLst/>
          </a:prstGeom>
          <a:solidFill>
            <a:srgbClr val="F1F7FB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Model capability keeps improving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Stanford HAI’s 2026 AI Index describes capability progress as accelerating, including large one-year improvements in coding and agent benchmarks.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OpenAI and Anthropic release notes show model and agent-platform capabilities changing on short release cycles.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A practical planning assumption is that next year’s model will be more capable at coding, retrieval, tool use and research assistance.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926080"/>
            <a:ext cx="4187952" cy="21214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063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From crowdsourced intelligence to LLM-sourced intelligence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WorldQuant shows that a standardized research system can turn many external researchers into a structured alpha-candidate funnel.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As LLMs improve, candidate intelligence can also come from machines: more hypotheses, variants, implementations and explanations at lower marginal cost.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The value still depends on the research system around the candidate: data fields, operators, simulation, originality, correlation, decay and admission into strategies.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926080"/>
            <a:ext cx="4187952" cy="21214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Predictive engines mining market data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HRT says deep learning is core to trading and models drive a significant fraction of trading.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Jane Street says neural-network models drive trading strategies and are studied in production.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XTX says ML forecasts for 50,000+ instruments are used to trade and provide liquidity.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Citadel Securities describes deep-learning/time-series/representation models deployed in live market-making or trading contexts.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5712" y="2926080"/>
            <a:ext cx="4133087" cy="21214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E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r>
              <a:rPr sz="1000" b="1">
                <a:solidFill>
                  <a:srgbClr val="17212C"/>
                </a:solidFill>
                <a:latin typeface="Arial"/>
              </a:rPr>
              <a:t>Miner’s tools and institutional memory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Monetisable ores: tested alphas, trained predictive engines, validated features, accepted models, client-use patterns and production feedback.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Miner’s tools: data pipelines, system wiring, research APIs, software libraries, simulation, build/test infrastructure, hardware and compute.</a:t>
            </a:r>
          </a:p>
          <a:p>
            <a:r>
              <a:rPr sz="869" b="0">
                <a:solidFill>
                  <a:srgbClr val="2F3D48"/>
                </a:solidFill>
                <a:latin typeface="Arial"/>
              </a:rPr>
              <a:t>• Institutional memory: RAG memory, research ledgers, failure history and quant judgement embedded in tests, conventions and approval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5358384"/>
            <a:ext cx="12874752" cy="1298448"/>
          </a:xfrm>
          <a:prstGeom prst="roundRect">
            <a:avLst/>
          </a:prstGeom>
          <a:solidFill>
            <a:srgbClr val="F4F7F2"/>
          </a:solidFill>
          <a:ln w="12700">
            <a:solidFill>
              <a:srgbClr val="3C7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73152" bIns="54864"/>
          <a:lstStyle/>
          <a:p>
            <a:r>
              <a:rPr sz="980" b="1">
                <a:solidFill>
                  <a:srgbClr val="214D38"/>
                </a:solidFill>
                <a:latin typeface="Arial"/>
              </a:rPr>
              <a:t>Value placement across the chain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Before machine work: value is placed in data quality, permissions, conventions, history and context assembly.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During machine work: value is placed in allowed tools, calculation environment, retrieval and compute budget.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After machine work: value is placed in tests, PIT checks, portfolio/risk review, documentation and memory.</a:t>
            </a:r>
          </a:p>
          <a:p>
            <a:r>
              <a:rPr sz="825" b="0">
                <a:solidFill>
                  <a:srgbClr val="2F3D48"/>
                </a:solidFill>
                <a:latin typeface="Arial"/>
              </a:rPr>
              <a:t>• Across runs: value is placed in accumulated knowledge held in systems and in the quants who design and maintain the 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6967728"/>
            <a:ext cx="12874752" cy="731520"/>
          </a:xfrm>
          <a:prstGeom prst="rect">
            <a:avLst/>
          </a:prstGeom>
          <a:solidFill>
            <a:srgbClr val="FFFDF8"/>
          </a:solidFill>
          <a:ln w="508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18288"/>
          <a:lstStyle/>
          <a:p>
            <a:pPr algn="ctr"/>
            <a:r>
              <a:rPr sz="700" b="1">
                <a:solidFill>
                  <a:srgbClr val="66727E"/>
                </a:solidFill>
                <a:latin typeface="Arial"/>
              </a:rPr>
              <a:t>References</a:t>
            </a:r>
          </a:p>
          <a:p>
            <a:pPr>
              <a:spcAft>
                <a:spcPts val="0"/>
              </a:spcAft>
            </a:pPr>
            <a:r>
              <a:rPr sz="680" b="0">
                <a:solidFill>
                  <a:srgbClr val="2E6C9B"/>
                </a:solidFill>
                <a:latin typeface="Arial"/>
                <a:hlinkClick r:id="rId2"/>
              </a:rPr>
              <a:t>Stanford HAI — 2026 AI Index Report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3"/>
              </a:rPr>
              <a:t>OpenAI — Release Notes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4"/>
              </a:rPr>
              <a:t>Anthropic — Claude Platform Release Notes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5"/>
              </a:rPr>
              <a:t>WorldQuant BRAIN — Consultant Program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6"/>
              </a:rPr>
              <a:t>Hudson River Trading — Machine Learning &amp; AI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7"/>
              </a:rPr>
              <a:t>Jane Street — Machine Learning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8"/>
              </a:rPr>
              <a:t>XTX Markets — firm description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9"/>
              </a:rPr>
              <a:t>Citadel Securities — Deep Learning ML Researcher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10"/>
              </a:rPr>
              <a:t>ICML 2026 — Multi-Agent System Design and Evaluation for Quantitative Finance</a:t>
            </a:r>
            <a:r>
              <a:rPr sz="680" b="0">
                <a:solidFill>
                  <a:srgbClr val="2E6C9B"/>
                </a:solidFill>
                <a:latin typeface="Arial"/>
              </a:rPr>
              <a:t>; </a:t>
            </a:r>
            <a:r>
              <a:rPr sz="680" b="0">
                <a:solidFill>
                  <a:srgbClr val="2E6C9B"/>
                </a:solidFill>
                <a:latin typeface="Arial"/>
                <a:hlinkClick r:id="rId11"/>
              </a:rPr>
              <a:t>Two Sigma — Treating Data as Code at Two Sigma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