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7160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udsonrivertrading.com/machine-learning/" TargetMode="External"/><Relationship Id="rId3" Type="http://schemas.openxmlformats.org/officeDocument/2006/relationships/hyperlink" Target="https://www.hudsonrivertrading.com/hrt-job/ai-researcher-llms-2/" TargetMode="External"/><Relationship Id="rId4" Type="http://schemas.openxmlformats.org/officeDocument/2006/relationships/hyperlink" Target="https://www.hudsonrivertrading.com/hrt-job/experienced-software-engineer-ai-tools-2/" TargetMode="External"/><Relationship Id="rId5" Type="http://schemas.openxmlformats.org/officeDocument/2006/relationships/hyperlink" Target="https://omny.fm/shows/odd-lots/inside-hudson-river-tradings-blistering-token-bur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umptrading.com/ai-ml" TargetMode="External"/><Relationship Id="rId3" Type="http://schemas.openxmlformats.org/officeDocument/2006/relationships/hyperlink" Target="https://icml.cc/virtual/2026/75722" TargetMode="External"/><Relationship Id="rId4" Type="http://schemas.openxmlformats.org/officeDocument/2006/relationships/hyperlink" Target="https://iclr.cc/Expo/Conferences/2026/Exp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anestreet.com/join-jane-street/machine-learning/" TargetMode="External"/><Relationship Id="rId3" Type="http://schemas.openxmlformats.org/officeDocument/2006/relationships/hyperlink" Target="https://www.janestreet.com/join-jane-street/programs-and-events/visiting-researcher/" TargetMode="External"/><Relationship Id="rId4" Type="http://schemas.openxmlformats.org/officeDocument/2006/relationships/hyperlink" Target="https://ai.engineer/talks/building-ai-powered-developer-tools-at-jane-stree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txmarkets.com/" TargetMode="External"/><Relationship Id="rId3" Type="http://schemas.openxmlformats.org/officeDocument/2006/relationships/hyperlink" Target="https://www.xtxmarkets.com/news/2025-pure-maths-research/" TargetMode="External"/><Relationship Id="rId4" Type="http://schemas.openxmlformats.org/officeDocument/2006/relationships/hyperlink" Target="https://www.xtxmarkets.com/tech/2025-ternfs/" TargetMode="External"/><Relationship Id="rId5" Type="http://schemas.openxmlformats.org/officeDocument/2006/relationships/hyperlink" Target="https://careerservices.fas.harvard.edu/jobs/xtx-markets-quantitative-researcher-deep-learning/" TargetMode="External"/><Relationship Id="rId6" Type="http://schemas.openxmlformats.org/officeDocument/2006/relationships/hyperlink" Target="https://job-boards.greenhouse.io/xtxmarketstechnologies/jobs/627445800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tadelsecurities.com/careers/details/deep-learning-ml-researcher/" TargetMode="External"/><Relationship Id="rId3" Type="http://schemas.openxmlformats.org/officeDocument/2006/relationships/hyperlink" Target="https://www.citadelsecurities.com/careers/details/machine-learning-engineer/" TargetMode="External"/><Relationship Id="rId4" Type="http://schemas.openxmlformats.org/officeDocument/2006/relationships/hyperlink" Target="https://www.reuters.com/business/citadel-debuts-new-ai-tool-equities-investors-cto-subramanian-says-2025-12-03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rldquantbrain.com/consultant" TargetMode="External"/><Relationship Id="rId3" Type="http://schemas.openxmlformats.org/officeDocument/2006/relationships/hyperlink" Target="https://www.worldquant.com/ideas/the-power-of-exponential-thinking/" TargetMode="External"/><Relationship Id="rId4" Type="http://schemas.openxmlformats.org/officeDocument/2006/relationships/hyperlink" Target="https://www.oreilly.com/library/view/finding-alphas-2nd/9781119571216/f04.x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wosigma.com/businesses/investment-management/" TargetMode="External"/><Relationship Id="rId3" Type="http://schemas.openxmlformats.org/officeDocument/2006/relationships/hyperlink" Target="https://www.twosigma.com/articles/treating-data-as-code-at-two-sigma/" TargetMode="External"/><Relationship Id="rId4" Type="http://schemas.openxmlformats.org/officeDocument/2006/relationships/hyperlink" Target="https://www.sec.gov/files/litigation/admin/2025/34-102207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rldquantbrain.com/consultant" TargetMode="External"/><Relationship Id="rId3" Type="http://schemas.openxmlformats.org/officeDocument/2006/relationships/hyperlink" Target="https://www.hudsonrivertrading.com/machine-learning/" TargetMode="External"/><Relationship Id="rId4" Type="http://schemas.openxmlformats.org/officeDocument/2006/relationships/hyperlink" Target="https://icml.cc/virtual/2026/75722" TargetMode="External"/><Relationship Id="rId5" Type="http://schemas.openxmlformats.org/officeDocument/2006/relationships/hyperlink" Target="https://www.twosigma.com/articles/treating-data-as-code-at-two-sigma/" TargetMode="External"/><Relationship Id="rId6" Type="http://schemas.openxmlformats.org/officeDocument/2006/relationships/hyperlink" Target="https://www.janestreet.com/join-jane-street/machine-learning/" TargetMode="External"/><Relationship Id="rId7" Type="http://schemas.openxmlformats.org/officeDocument/2006/relationships/hyperlink" Target="https://ai.engineer/talks/building-ai-powered-developer-tools-at-jane-street" TargetMode="External"/><Relationship Id="rId8" Type="http://schemas.openxmlformats.org/officeDocument/2006/relationships/hyperlink" Target="https://www.reuters.com/business/citadel-debuts-new-ai-tool-equities-investors-cto-subramanian-says-2025-12-03/" TargetMode="External"/><Relationship Id="rId9" Type="http://schemas.openxmlformats.org/officeDocument/2006/relationships/hyperlink" Target="https://www.xtxmarkets.com/news/2025-pure-maths-research/" TargetMode="External"/><Relationship Id="rId10" Type="http://schemas.openxmlformats.org/officeDocument/2006/relationships/hyperlink" Target="https://www.citadelsecurities.com/careers/details/deep-learning-ml-researcher/" TargetMode="External"/><Relationship Id="rId11" Type="http://schemas.openxmlformats.org/officeDocument/2006/relationships/hyperlink" Target="https://www.sec.gov/files/litigation/admin/2025/34-102207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i.stanford.edu/ai-index/2026-ai-index-report" TargetMode="External"/><Relationship Id="rId3" Type="http://schemas.openxmlformats.org/officeDocument/2006/relationships/hyperlink" Target="https://help.openai.com/en/articles/6825453" TargetMode="External"/><Relationship Id="rId4" Type="http://schemas.openxmlformats.org/officeDocument/2006/relationships/hyperlink" Target="https://platform.claude.com/docs/en/release-notes/overview" TargetMode="External"/><Relationship Id="rId5" Type="http://schemas.openxmlformats.org/officeDocument/2006/relationships/hyperlink" Target="https://worldquantbrain.com/consultant" TargetMode="External"/><Relationship Id="rId6" Type="http://schemas.openxmlformats.org/officeDocument/2006/relationships/hyperlink" Target="https://www.hudsonrivertrading.com/machine-learning/" TargetMode="External"/><Relationship Id="rId7" Type="http://schemas.openxmlformats.org/officeDocument/2006/relationships/hyperlink" Target="https://www.janestreet.com/join-jane-street/machine-learning/" TargetMode="External"/><Relationship Id="rId8" Type="http://schemas.openxmlformats.org/officeDocument/2006/relationships/hyperlink" Target="https://www.xtxmarkets.com/news/2025-pure-maths-research/" TargetMode="External"/><Relationship Id="rId9" Type="http://schemas.openxmlformats.org/officeDocument/2006/relationships/hyperlink" Target="https://www.citadelsecurities.com/careers/details/deep-learning-ml-researcher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18872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17212C"/>
                </a:solidFill>
                <a:latin typeface="Arial"/>
              </a:rPr>
              <a:t>How firms are organizing quantitative work around stronger machine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7899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6727E"/>
                </a:solidFill>
                <a:latin typeface="Arial"/>
              </a:rPr>
              <a:t>A compact review for a Markets Quant audience. The focus is research workflow, data, controls, software plumbing and reusable knowledge.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Hudson River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HRT: machine work is embedded in a firm-level research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1207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66727E"/>
                </a:solidFill>
                <a:latin typeface="Arial"/>
              </a:rPr>
              <a:t>Public materials link predictive models, internal language-model work, tool access, evaluation and trading research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Machine intelligence in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11680"/>
            <a:ext cx="6080759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Deep learning is described as core to trading, with researchers improving featurization, architecture, training dynamics and the way trading decisions are made.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LLM researcher role covers tokenizer and data mixture, pre-training, post-training, evaluation and serving.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AI Tools role includes internal-resource access, code fine-tunes, assistant tooling, sandboxing and autonomous coding-agent evaluation.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Public discussion includes coding support, experiment ideation, experiment monitoring and comparing machine-generated signal ideas with human-generated signal ideas.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664208"/>
            <a:ext cx="638251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Human role visible in 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011680"/>
            <a:ext cx="6126480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Researchers set the problem and the evaluation context.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Engineering teams wire models into internal resources and controlled tooling.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Trading judgement and audited systems remain part of the path from model output to market action.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Useful machine output becomes part of an ongoing research workflow, not a detached one-off answer.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3950208"/>
          <a:ext cx="128747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5285232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Observed practice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Research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Machine assistance is described around coding, experiment design and experiment monitoring.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quant role shifts toward defining meaningful experiments and reading results in market context.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Data / context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predictive model work begins with featurization and data representation.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A stronger model is useful only when the data state is properly prepared and interpreted.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Tools / controls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Internal resources, sandboxing and coding-agent evaluation are explicit build areas.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firm makes machine work inspectable and safe enough for internal workflows.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577840"/>
            <a:ext cx="12874752" cy="1261872"/>
          </a:xfrm>
          <a:prstGeom prst="roundRect">
            <a:avLst/>
          </a:prstGeom>
          <a:solidFill>
            <a:srgbClr val="F4F7F2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1252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>
                <a:solidFill>
                  <a:srgbClr val="214D38"/>
                </a:solidFill>
                <a:latin typeface="Arial"/>
              </a:rPr>
              <a:t>Where HRT appears to place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925312"/>
            <a:ext cx="12481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Data and state: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market data, features, training data mixtures and internal context are treated as inputs that must be prepared before model work is useful.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Research object: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the monetisable object is a trained prediction or a tested research output, not the wording of the instruction that produced it.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Testing and admission: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evaluation, agent assessment, sandboxing and audited trading controls sit between machine output and production use.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Infrastructure and wiring: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serving, internal-resource access, coding tools and research systems connect machine output to the real trading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96772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713232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Hudson River Trading — Machine Learning &amp;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726948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Hudson River Trading — AI Researcher, 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740664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Hudson River Trading — Experienced Software Engineer, AI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754380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Odd Lots — Inside Hudson River Trading’s Blistering Token Burn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Jump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Jump: research agents are treated as finance-specific systems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1207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66727E"/>
                </a:solidFill>
                <a:latin typeface="Arial"/>
              </a:rPr>
              <a:t>Jump’s public material gives the clearest view of point-in-time discipline, trace capture and harness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Machine intelligence in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11680"/>
            <a:ext cx="6080759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Jump describes machine learning as integrated across trading, research and core infrastructure.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Examples include time-series forecasting, unstructured-data signal generation, LLM agents and AI-enabled software tools.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Public scale claims include 10,000+ compute nodes, 5M+ simulations daily, 50+ AI tools used daily and 75%+ weekly LLM usage across the firm.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ICLR material describes fine-tuned LLMs producing live trading signals and multi-agent forecasts used by human traders and automated strategies.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664208"/>
            <a:ext cx="638251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Human role visible in 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011680"/>
            <a:ext cx="6126480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ICML material starts with a real historical research question and fixes what information was knowable at the time.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Runs capture prompts, context, documents, tool calls, code, files, intermediate artefacts and final answers.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Model comparisons use end-to-end outcomes plus trace-level and conditional-failure analysis.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More agent capability is handled through more explicit harness design, scorecards and historical discipline.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3950208"/>
          <a:ext cx="128747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5285232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Observed practice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Research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Agents can work on quant and engineering questions inside a controlled historical setup.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Define the correct historical state, preserve the run record and judge the trace, not only the final answer.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Point-in-time boundaries and full trace capture are core parts of the setup.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Finance research needs provenance because small leakage or adaptive search can dominate apparent edge.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Production adjacency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ICLR describes trading-signal and forecast use while ICML emphasizes evaluation infrastructure.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Forecast generation and production use are connected through controlled evaluation and workflow design.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577840"/>
            <a:ext cx="12874752" cy="1261872"/>
          </a:xfrm>
          <a:prstGeom prst="roundRect">
            <a:avLst/>
          </a:prstGeom>
          <a:solidFill>
            <a:srgbClr val="F4F7F2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1252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>
                <a:solidFill>
                  <a:srgbClr val="214D38"/>
                </a:solidFill>
                <a:latin typeface="Arial"/>
              </a:rPr>
              <a:t>Where Jump appears to place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925312"/>
            <a:ext cx="12481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Data and state: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point-in-time historical information sets are treated as part of the problem definition, not an afterthought.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Research object: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the useful object is a forecast, signal, code change or research run that can be replayed and inspected.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Testing and admission: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full traces, scorecards, simulations and failure decomposition are used to judge whether machine work is credible.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Infrastructure and wiring: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compute, simulations, tools, documents, code execution and firm-specific harnesses turn model capability into repeatable research throughput.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96772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713232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Jump Trading — AI /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726948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ICML 2026 — Multi-Agent System Design and Evaluation for Quantitative 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740664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ICLR 2026 Expo — Jump Trading: Domain-Adapted Agents for Quantitative Research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Jane Street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Jane Street: useful model output is shaped by the codebase, data and executable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1207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66727E"/>
                </a:solidFill>
                <a:latin typeface="Arial"/>
              </a:rPr>
              <a:t>Jane Street’s public material connects neural models to trading strategies and language-model tooling to real developer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Machine intelligence in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11680"/>
            <a:ext cx="6080759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Jane Street says its ML team creates neural-network models driving trading strategies and builds the infrastructure that makes training and inference possible.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firm describes market data as noisy, regime-changing and affected by its own actions.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Researchers, engineers and traders work together to train models, build systems and study model trades in production.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developer-tools talk turns language-model output into candidate multi-file diffs evaluated against real build and test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664208"/>
            <a:ext cx="638251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Human role visible in 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011680"/>
            <a:ext cx="6126480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Human work appears in task construction, workspace context, build/test feedback and integration into editors.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model is improved through real internal signals: code snapshots, build state, parser/typechecker/compiler/test results and developer workflow.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Domain value comes from the internal codebase and executable environment as much as from the model’s general coding ability.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Quant and engineering knowledge is converted into infrastructure that lets the next suggestion be checked more cheaply.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3950208"/>
          <a:ext cx="128747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5285232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Observed practice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Research / trading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Neural models are described as driving trading strategies; teams study model trades in production.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monetisable object is a trained predictive system with data, infrastructure and production feedback.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Software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Language-model output is evaluated as real code changes through build/test systems.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firm converts developer judgement into repeatable checks.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Workspace snapshots and feedback create a record of what good and bad changes look like.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organisation gains reusable training/evaluation data from everyday work.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577840"/>
            <a:ext cx="12874752" cy="1261872"/>
          </a:xfrm>
          <a:prstGeom prst="roundRect">
            <a:avLst/>
          </a:prstGeom>
          <a:solidFill>
            <a:srgbClr val="F4F7F2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1252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>
                <a:solidFill>
                  <a:srgbClr val="214D38"/>
                </a:solidFill>
                <a:latin typeface="Arial"/>
              </a:rPr>
              <a:t>Where Jane Street appears to place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925312"/>
            <a:ext cx="12481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Data and state: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market data, production traces, codebase state and build state define the context in which models become useful.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Research object: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the monetisable object is a trained trading model, a production-tested feature, or a code change that works inside the firm’s systems.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Testing and admission: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model trades, parser/typechecker/compiler results and tests provide executable feedback before outputs are trusted.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Infrastructure and wiring: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training/inference infrastructure, editor integration, build systems and developer tools convert suggestions into measurable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96772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713232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Jane Street — 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726948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Jane Street — Visiting Researcher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740664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AI Engineer World’s Fair — Building AI-Powered Developer Tools at Jane Street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XTX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XTX: the central object is a large forecasting system with heavy data and compute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1207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66727E"/>
                </a:solidFill>
                <a:latin typeface="Arial"/>
              </a:rPr>
              <a:t>XTX’s public descriptions are unusually direct about forecasts, instrument breadth and infrastructure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Machine intelligence in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11680"/>
            <a:ext cx="6080759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XTX says it uses state-of-the-art machine learning to produce price forecasts for more than 50,000 financial instruments.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Those forecasts are used to trade on exchanges and alternative venues and to provide differentiated liquidity to clients.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Public materials and roles point to large-scale time-series and cross-sectional prediction, modern deep-learning architectures and foundation-model research for market data.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TernFS is described as an exabyte-scale distributed filesystem supporting machine-learning workloads and high-throughput data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664208"/>
            <a:ext cx="638251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Human role visible in 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011680"/>
            <a:ext cx="6126480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Researchers design prediction problems, objectives, evaluation approaches and scaling methods.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Engineering work covers storage, training and inference performance, compilers, bit-width numerics and model-to-hardware mapping.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value chain depends on turning forecasts into pricing, trading and liquidity provision at scale.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Compute and storage appear as part of the research instrument rather than back-office support.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3950208"/>
          <a:ext cx="128747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5285232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Observed practice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Research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Forecasts are produced across a very broad instrument universe.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quant role sits around target definition, cross-sectional structure and model reliability.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Data platform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TernFS, storage scale and throughput are part of the public story.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data pipeline is a core component of the forecasting machine.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Trading use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Forecasts feed exchange trading, alternative venues and direct liquidity provision.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forecast must be embedded in market access, pricing and execution systems.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577840"/>
            <a:ext cx="12874752" cy="1261872"/>
          </a:xfrm>
          <a:prstGeom prst="roundRect">
            <a:avLst/>
          </a:prstGeom>
          <a:solidFill>
            <a:srgbClr val="F4F7F2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1252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>
                <a:solidFill>
                  <a:srgbClr val="214D38"/>
                </a:solidFill>
                <a:latin typeface="Arial"/>
              </a:rPr>
              <a:t>Where XTX appears to place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925312"/>
            <a:ext cx="12481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Data and state: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large-scale time-series and cross-sectional market data across tens of thousands of instruments are central to the forecasting problem.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Research object: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the monetisable object is a price forecast or trained forecasting system that can support trading and liquidity provision.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Testing and admission: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objectives, uncertainty, scaling, robustness and evaluation methods appear as core research concerns in public roles.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Infrastructure and wiring: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TernFS, GPU/storage scale, compilers, numerics and model-to-hardware work are part of the forecasting machine.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96772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713232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XTX Markets — About / firm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726948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XTX Markets — pure maths research announcement including firm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740664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XTX Markets — TernFS: an exabyte-scale distributed filesystem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713232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Harvard Mignone Center — XTX Markets Quantitative Researcher, Deep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726948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6"/>
              </a:rPr>
              <a:t>XTX Markets — XTY Labs: Machine Learning Scientist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Citadel / Citadel Securities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Citadel Securities: predictive models are connected to live market-making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1207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66727E"/>
                </a:solidFill>
                <a:latin typeface="Arial"/>
              </a:rPr>
              <a:t>The clearest public material comes from market-making roles; Citadel’s equities assistant gives a separate investor-workflow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Machine intelligence in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11680"/>
            <a:ext cx="6080759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Citadel Securities roles describe models built and deployed across equities, options, fixed income and derivatives using petabyte-scale data.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Model techniques include deep learning, sequence/time-series methods, representation learning and robustness against overfitting across financial regimes.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stated goal is measurable P&amp;L impact or reduced risk/cost in live market-making or trading contexts.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A machine-learning engineering role describes internal deep-learning libraries, distributed workflows and infrastructure used by many researchers.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664208"/>
            <a:ext cx="638251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Human role visible in 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011680"/>
            <a:ext cx="6126480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Researchers connect modeling to live market-making objectives and business processes.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Engineers maintain shared libraries and performance infrastructure for repeated model development.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Citadel’s reported equities assistant uses licensed research, filings, transcripts and internal strategy context to prepare investor research.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Across both examples, the model output is valuable when attached to business context, internal records and professional judgement.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3950208"/>
          <a:ext cx="128747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5285232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Observed practice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Trading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Predictive models are explicitly tied to market-making / trading impact.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quant role connects model design to risk, cost, execution and business objectives.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Platform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Internal libraries and distributed ML infrastructure support many researchers.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Shared tooling turns individual model work into departmental capability.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Citadel’s assistant shortens research preparation with licensed and internal context.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Information retrieval becomes useful when linked to portfolio and strategy context.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577840"/>
            <a:ext cx="12874752" cy="1261872"/>
          </a:xfrm>
          <a:prstGeom prst="roundRect">
            <a:avLst/>
          </a:prstGeom>
          <a:solidFill>
            <a:srgbClr val="F4F7F2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1252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>
                <a:solidFill>
                  <a:srgbClr val="214D38"/>
                </a:solidFill>
                <a:latin typeface="Arial"/>
              </a:rPr>
              <a:t>Where Citadel / Citadel Securities appear to place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925312"/>
            <a:ext cx="12481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Data and state: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petabyte-scale market data, order-flow context, licensed research and internal strategy context are used as differentiated inputs.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Research object: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the monetisable object is a deployed model, signal, risk/cost reduction, or investor workflow improvement with business impact.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Testing and admission: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models are framed around live impact, risk, cost, robustness and production deployment rather than isolated prototype quality.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Infrastructure and wiring: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shared deep-learning libraries, distributed workflows and production engineering allow many researchers to reuse common capabilities.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96772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713232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Citadel Securities — Deep Learning ML 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726948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Citadel Securities — Machine Learning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740664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Reuters — Citadel debuts new AI tool for equities investors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WorldQuant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WorldQuant: a standardized system turns distributed intelligence into alpha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1207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66727E"/>
                </a:solidFill>
                <a:latin typeface="Arial"/>
              </a:rPr>
              <a:t>WorldQuant is useful because it scaled a large human research funnel before the current wave of stronger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Machine / human intelligence in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11680"/>
            <a:ext cx="6080759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BRAIN provides a standardized environment for data fields, operators, simulation, competition and alpha submission.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Historical materials report very large candidate-alpha volumes and large research-consultant participation.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Current BRAIN material describes a global consultant community, multiple regions and broad data-field access.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platform makes many independent researchers produce comparable, executable research objects.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664208"/>
            <a:ext cx="638251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Human role visible in 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011680"/>
            <a:ext cx="6126480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institution defines the data, operators, testing surface and submission rules.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Researchers supply candidate intelligence at scale.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harder downstream work is selection, originality, correlation, combination, decay monitoring and portfolio use.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accumulated research history becomes valuable beyond any single formula.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3950208"/>
          <a:ext cx="128747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5285232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Observed practice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Research supply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Distributed people generate large volumes of candidate alphas.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A system can harness outside intelligence if the research object is standardized.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public interface gives a common simulation and scoring environment.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Comparable tests matter when candidate supply is large.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Large historical candidate volumes imply a substantial record of what has been tried.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Past failures, correlations and decay become institutional knowledge.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577840"/>
            <a:ext cx="12874752" cy="1261872"/>
          </a:xfrm>
          <a:prstGeom prst="roundRect">
            <a:avLst/>
          </a:prstGeom>
          <a:solidFill>
            <a:srgbClr val="F4F7F2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1252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>
                <a:solidFill>
                  <a:srgbClr val="214D38"/>
                </a:solidFill>
                <a:latin typeface="Arial"/>
              </a:rPr>
              <a:t>Where WorldQuant appears to place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925312"/>
            <a:ext cx="12481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Data and state: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standardized data fields and operators define a common research surface for a large contributor base.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Research object: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the monetisable object begins as an alpha candidate that is executable, comparable and testable inside the platform.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Testing and admission: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scoring, correlation, originality, combination, decay and portfolio use become central once candidate supply is large.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Infrastructure and wiring: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BRAIN/WebSim-style data, functions, simulation and submission tooling convert distributed intelligence into a managed alpha funnel.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96772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713232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WorldQuant BRAIN — Consultant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726948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WorldQuant — The Power of Exponential Thinking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740664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O’Reilly — Finding Alphas, 2nd 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Two Sigma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Two Sigma: data productization and model admission are visible parts of the investment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12070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66727E"/>
                </a:solidFill>
                <a:latin typeface="Arial"/>
              </a:rPr>
              <a:t>Two Sigma’s material is useful because it exposes the institutional work around data, models, portfolio construction and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Machine intelligence in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11680"/>
            <a:ext cx="6080759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Two Sigma describes a platform built on people, technology and data, with data sourcing/preparation, modeling, portfolio construction and execution as linked stages.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firm reports 10,000+ structured and unstructured data sources in a proprietary system.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data-as-code article describes versioning, tests, replay, lineage, CI/CD and data contracts.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article explicitly notes that LLM and AI applications increase demand for high-quality data and data contracts.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664208"/>
            <a:ext cx="6382512" cy="21488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Human role visible in the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2011680"/>
            <a:ext cx="6126480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Researchers turn data into features and models, then portfolio construction combines independent forecasts, costs and risks.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SEC material describes a model approval process involving white papers, key metrics and correlation review.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Model files, parameters and production use are controlled objects.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More generated research increases the value of data lineage, model documentation and portfolio admission discipline.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3950208"/>
          <a:ext cx="128747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5285232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Observed practice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45720" marT="32004" marB="32004">
                    <a:solidFill>
                      <a:srgbClr val="EEF1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Data is treated as a governed product with tests, lineage and replay.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Machine output inherits the quality of its data contracts and historical state.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Model control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PAM / Mini-PAM material describes documentation, metrics and correlation review.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The firm distinguishes model creation from model admission.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34424D"/>
                          </a:solidFill>
                          <a:latin typeface="Arial"/>
                        </a:rPr>
                        <a:t>Portfolio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Independent forecasts are combined with costs and risks into target allocations.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34424D"/>
                          </a:solidFill>
                          <a:latin typeface="Arial"/>
                        </a:rPr>
                        <a:t>A candidate signal becomes economic only through portfolio construction and execution.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5577840"/>
            <a:ext cx="12874752" cy="1261872"/>
          </a:xfrm>
          <a:prstGeom prst="roundRect">
            <a:avLst/>
          </a:prstGeom>
          <a:solidFill>
            <a:srgbClr val="F4F7F2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669280"/>
            <a:ext cx="1252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1">
                <a:solidFill>
                  <a:srgbClr val="214D38"/>
                </a:solidFill>
                <a:latin typeface="Arial"/>
              </a:rPr>
              <a:t>Where Two Sigma appears to place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925312"/>
            <a:ext cx="124815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Data and state: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data is treated as a governed product with versioning, tests, replay, lineage and contracts.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Research object: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the monetisable object is a feature, forecast, model or portfolio input whose contribution can be measured against existing models.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Testing and admission: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documentation, metrics, correlation review, parameter control and portfolio approval separate model creation from production use.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35453D"/>
                </a:solidFill>
                <a:latin typeface="Arial"/>
              </a:rPr>
              <a:t>• </a:t>
            </a:r>
            <a:r>
              <a:rPr sz="819" b="1">
                <a:solidFill>
                  <a:srgbClr val="35453D"/>
                </a:solidFill>
                <a:latin typeface="Arial"/>
              </a:rPr>
              <a:t>Infrastructure and wiring:</a:t>
            </a:r>
            <a:r>
              <a:rPr sz="819" b="0">
                <a:solidFill>
                  <a:srgbClr val="35453D"/>
                </a:solidFill>
                <a:latin typeface="Arial"/>
              </a:rPr>
              <a:t> </a:t>
            </a:r>
            <a:r>
              <a:rPr sz="819" b="0">
                <a:solidFill>
                  <a:srgbClr val="35453D"/>
                </a:solidFill>
                <a:latin typeface="Arial"/>
              </a:rPr>
              <a:t>data contracts, model files, parameter stores and portfolio construction connect research output to target allocations.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96772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713232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Two Sigma — Investment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726948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Two Sigma — Treating Data as Code at Two Sigma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7406640"/>
            <a:ext cx="128016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SEC — Two Sigma Advisers / Two Sigma Investments Administrative Order, Release No. 102207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Cross-firm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Common workstreams by aspect of the Markets / quant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664208"/>
            <a:ext cx="63367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Data and state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011680"/>
            <a:ext cx="6080759" cy="8686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High focus: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Two Sigma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XTX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Jane Street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HRT</a:t>
            </a:r>
            <a:r>
              <a:rPr sz="960" b="0">
                <a:solidFill>
                  <a:srgbClr val="2F3D48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Two Sigma</a:t>
            </a:r>
            <a:r>
              <a:rPr sz="960" b="0">
                <a:solidFill>
                  <a:srgbClr val="2F3D48"/>
                </a:solidFill>
                <a:latin typeface="Arial"/>
              </a:rPr>
              <a:t>: versioning, tests, replay, lineage and data contracts.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XTX</a:t>
            </a:r>
            <a:r>
              <a:rPr sz="960" b="0">
                <a:solidFill>
                  <a:srgbClr val="2F3D48"/>
                </a:solidFill>
                <a:latin typeface="Arial"/>
              </a:rPr>
              <a:t>: large financial time-series / cross-sectional data and TernFS storage throughput.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Jane Street</a:t>
            </a:r>
            <a:r>
              <a:rPr sz="960" b="0">
                <a:solidFill>
                  <a:srgbClr val="2F3D48"/>
                </a:solidFill>
                <a:latin typeface="Arial"/>
              </a:rPr>
              <a:t>: market data plus production traces affected by the firm’s own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6288" y="1664208"/>
            <a:ext cx="638251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59" y="1755648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Research object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3" y="2011680"/>
            <a:ext cx="6126480" cy="8686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High focus: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WorldQuant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HRT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XTX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Citadel Securities</a:t>
            </a:r>
            <a:r>
              <a:rPr sz="960" b="0">
                <a:solidFill>
                  <a:srgbClr val="2F3D48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WorldQuant</a:t>
            </a:r>
            <a:r>
              <a:rPr sz="960" b="0">
                <a:solidFill>
                  <a:srgbClr val="2F3D48"/>
                </a:solidFill>
                <a:latin typeface="Arial"/>
              </a:rPr>
              <a:t>: executable alpha expressions over standard fields and operators.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XTX</a:t>
            </a:r>
            <a:r>
              <a:rPr sz="960" b="0">
                <a:solidFill>
                  <a:srgbClr val="2F3D48"/>
                </a:solidFill>
                <a:latin typeface="Arial"/>
              </a:rPr>
              <a:t>: price forecasts across a broad instrument universe.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Citadel Securities</a:t>
            </a:r>
            <a:r>
              <a:rPr sz="960" b="0">
                <a:solidFill>
                  <a:srgbClr val="2F3D48"/>
                </a:solidFill>
                <a:latin typeface="Arial"/>
              </a:rPr>
              <a:t>: deployed predictive models linked to P&amp;L, risk and cost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099816"/>
            <a:ext cx="633679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91256"/>
            <a:ext cx="60990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Testing, validation and admission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447288"/>
            <a:ext cx="6080759" cy="8686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High focus: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Jump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Two Sigma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Jane Street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WorldQuant</a:t>
            </a:r>
            <a:r>
              <a:rPr sz="960" b="0">
                <a:solidFill>
                  <a:srgbClr val="2F3D48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Jump</a:t>
            </a:r>
            <a:r>
              <a:rPr sz="960" b="0">
                <a:solidFill>
                  <a:srgbClr val="2F3D48"/>
                </a:solidFill>
                <a:latin typeface="Arial"/>
              </a:rPr>
              <a:t>: point-in-time boundaries, full traces and failure decomposition.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Two Sigma</a:t>
            </a:r>
            <a:r>
              <a:rPr sz="960" b="0">
                <a:solidFill>
                  <a:srgbClr val="2F3D48"/>
                </a:solidFill>
                <a:latin typeface="Arial"/>
              </a:rPr>
              <a:t>: model documentation, metrics and correlation review before portfolio use.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Jane Street</a:t>
            </a:r>
            <a:r>
              <a:rPr sz="960" b="0">
                <a:solidFill>
                  <a:srgbClr val="2F3D48"/>
                </a:solidFill>
                <a:latin typeface="Arial"/>
              </a:rPr>
              <a:t>: parse, typecheck, compile and test feedback for code suggestions.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3099816"/>
            <a:ext cx="638251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3191256"/>
            <a:ext cx="614476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Infrastructure and system wiring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3" y="3447288"/>
            <a:ext cx="6126480" cy="8686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High focus: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HRT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Jump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Jane Street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XTX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Citadel Securities</a:t>
            </a:r>
            <a:r>
              <a:rPr sz="960" b="0">
                <a:solidFill>
                  <a:srgbClr val="2F3D48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HRT</a:t>
            </a:r>
            <a:r>
              <a:rPr sz="960" b="0">
                <a:solidFill>
                  <a:srgbClr val="2F3D48"/>
                </a:solidFill>
                <a:latin typeface="Arial"/>
              </a:rPr>
              <a:t>: internal-resource access, sandboxing, serving and coding-agent evaluation.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Jump</a:t>
            </a:r>
            <a:r>
              <a:rPr sz="960" b="0">
                <a:solidFill>
                  <a:srgbClr val="2F3D48"/>
                </a:solidFill>
                <a:latin typeface="Arial"/>
              </a:rPr>
              <a:t>: compute, simulation, tools, documents and harnesses.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XTX</a:t>
            </a:r>
            <a:r>
              <a:rPr sz="960" b="0">
                <a:solidFill>
                  <a:srgbClr val="2F3D48"/>
                </a:solidFill>
                <a:latin typeface="Arial"/>
              </a:rPr>
              <a:t>: storage, GPUs, compilers, numerics and model-to-hardware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535424"/>
            <a:ext cx="1287475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26864"/>
            <a:ext cx="12637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Research memory and portfolio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882896"/>
            <a:ext cx="12618720" cy="9875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High focus: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WorldQuant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Two Sigma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HRT</a:t>
            </a:r>
            <a:r>
              <a:rPr sz="960" b="0">
                <a:solidFill>
                  <a:srgbClr val="2F3D48"/>
                </a:solidFill>
                <a:latin typeface="Arial"/>
              </a:rPr>
              <a:t>,</a:t>
            </a:r>
            <a:r>
              <a:rPr sz="960" b="0">
                <a:solidFill>
                  <a:srgbClr val="2F3D48"/>
                </a:solidFill>
                <a:latin typeface="Arial"/>
              </a:rPr>
              <a:t> </a:t>
            </a:r>
            <a:r>
              <a:rPr sz="960" b="1">
                <a:solidFill>
                  <a:srgbClr val="2F3D48"/>
                </a:solidFill>
                <a:latin typeface="Arial"/>
              </a:rPr>
              <a:t>Citadel</a:t>
            </a:r>
            <a:r>
              <a:rPr sz="960" b="0">
                <a:solidFill>
                  <a:srgbClr val="2F3D48"/>
                </a:solidFill>
                <a:latin typeface="Arial"/>
              </a:rPr>
              <a:t>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WorldQuant</a:t>
            </a:r>
            <a:r>
              <a:rPr sz="960" b="0">
                <a:solidFill>
                  <a:srgbClr val="2F3D48"/>
                </a:solidFill>
                <a:latin typeface="Arial"/>
              </a:rPr>
              <a:t>: large candidate history makes correlation, decay and combination central.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Two Sigma</a:t>
            </a:r>
            <a:r>
              <a:rPr sz="960" b="0">
                <a:solidFill>
                  <a:srgbClr val="2F3D48"/>
                </a:solidFill>
                <a:latin typeface="Arial"/>
              </a:rPr>
              <a:t>: independent forecasts are combined with costs and risks into target allocations.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1">
                <a:solidFill>
                  <a:srgbClr val="2F3D48"/>
                </a:solidFill>
                <a:latin typeface="Arial"/>
              </a:rPr>
              <a:t>Citadel</a:t>
            </a:r>
            <a:r>
              <a:rPr sz="960" b="0">
                <a:solidFill>
                  <a:srgbClr val="2F3D48"/>
                </a:solidFill>
                <a:latin typeface="Arial"/>
              </a:rPr>
              <a:t>: licensed and internal investment context is reused in investor research workflow.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144768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309359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WorldQuant BRAIN — Consultant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44652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Hudson River Trading — Machine Learning &amp;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583679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ICML 2026 — Multi-Agent System Design and Evaluation for Quantitative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672084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Two Sigma — Treating Data as Code at Two Sigma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857999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6"/>
              </a:rPr>
              <a:t>Jane Street —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6309359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7"/>
              </a:rPr>
              <a:t>AI Engineer World’s Fair — Building AI-Powered Developer Tools at Jane Street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4" y="644652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8"/>
              </a:rPr>
              <a:t>Reuters — Citadel debuts new AI tool for equities investors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6583679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9"/>
              </a:rPr>
              <a:t>XTX Markets — pure maths research announcement including firm description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6720840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10"/>
              </a:rPr>
              <a:t>Citadel Securities — Deep Learning ML Researcher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6857999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11"/>
              </a:rPr>
              <a:t>SEC — Two Sigma Advisers / Two Sigma Investments Administrative Order, Release No. 102207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40" b="1">
                <a:solidFill>
                  <a:srgbClr val="2E6C9B"/>
                </a:solidFill>
                <a:latin typeface="Arial"/>
              </a:rPr>
              <a:t>Final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12C"/>
                </a:solidFill>
                <a:latin typeface="Arial"/>
              </a:rPr>
              <a:t>Quant roles: from sources of intelligence to miners and enablers of machine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0" y="25603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6727E"/>
                </a:solidFill>
                <a:latin typeface="Arial"/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81328"/>
            <a:ext cx="12893040" cy="889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664208"/>
            <a:ext cx="12874752" cy="1234440"/>
          </a:xfrm>
          <a:prstGeom prst="roundRect">
            <a:avLst/>
          </a:prstGeom>
          <a:solidFill>
            <a:srgbClr val="FFFAF0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2637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30" b="1">
                <a:solidFill>
                  <a:srgbClr val="17212C"/>
                </a:solidFill>
                <a:latin typeface="Arial"/>
              </a:rPr>
              <a:t>Why this direction is becoming more relevant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011680"/>
            <a:ext cx="12618720" cy="8046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The Stanford 2026 AI Index describes capability progress as accelerating; coding benchmark performance rose sharply in one year, and agent benchmarks also improved materially.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Major model platforms now change on short release cycles. The practical planning assumption is that the next model generation will be more capable than the one used in today’s workflow.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960">
                <a:solidFill>
                  <a:srgbClr val="17212C"/>
                </a:solidFill>
                <a:latin typeface="Arial"/>
              </a:rPr>
              <a:t>• </a:t>
            </a:r>
            <a:r>
              <a:rPr sz="960" b="0">
                <a:solidFill>
                  <a:srgbClr val="2F3D48"/>
                </a:solidFill>
                <a:latin typeface="Arial"/>
              </a:rPr>
              <a:t>When the middle step becomes more capable, the value of the surrounding machinery becomes easier to see: data access, historical state, tools, tests, production wiring and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035808"/>
            <a:ext cx="418795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06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136392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1">
                <a:solidFill>
                  <a:srgbClr val="17212C"/>
                </a:solidFill>
                <a:latin typeface="Arial"/>
              </a:rPr>
              <a:t>From crowdsourced intelligence to LLM-sourced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75304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1">
                <a:solidFill>
                  <a:srgbClr val="34424D"/>
                </a:solidFill>
                <a:latin typeface="Arial"/>
              </a:rPr>
              <a:t>WorldQuant</a:t>
            </a:r>
            <a:r>
              <a:rPr sz="819" b="0">
                <a:solidFill>
                  <a:srgbClr val="34424D"/>
                </a:solidFill>
                <a:latin typeface="Arial"/>
              </a:rPr>
              <a:t> </a:t>
            </a:r>
            <a:r>
              <a:rPr sz="819" b="0">
                <a:solidFill>
                  <a:srgbClr val="34424D"/>
                </a:solidFill>
                <a:latin typeface="Arial"/>
              </a:rPr>
              <a:t>is the useful precedent: it shows how a standard research environment can turn distributed human intelligence into comparable alpha candidates.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0">
                <a:solidFill>
                  <a:srgbClr val="34424D"/>
                </a:solidFill>
                <a:latin typeface="Arial"/>
              </a:rPr>
              <a:t>As LLMs improve, the same economic shape becomes plausible with machine-sourced hypotheses, expressions, code and variants.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0">
                <a:solidFill>
                  <a:srgbClr val="34424D"/>
                </a:solidFill>
                <a:latin typeface="Arial"/>
              </a:rPr>
              <a:t>The institution still needs the research surface: data, operators, simulation, scoring, correlation checks, submission rules and memory.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0">
                <a:solidFill>
                  <a:srgbClr val="34424D"/>
                </a:solidFill>
                <a:latin typeface="Arial"/>
              </a:rPr>
              <a:t>The accumulated record of candidates, failures, correlations and decay remains part of the asset.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7448" y="3035808"/>
            <a:ext cx="4187952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136392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1">
                <a:solidFill>
                  <a:srgbClr val="17212C"/>
                </a:solidFill>
                <a:latin typeface="Arial"/>
              </a:rPr>
              <a:t>Machine prediction trained on market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575304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1">
                <a:solidFill>
                  <a:srgbClr val="34424D"/>
                </a:solidFill>
                <a:latin typeface="Arial"/>
              </a:rPr>
              <a:t>HRT</a:t>
            </a:r>
            <a:r>
              <a:rPr sz="819" b="0">
                <a:solidFill>
                  <a:srgbClr val="34424D"/>
                </a:solidFill>
                <a:latin typeface="Arial"/>
              </a:rPr>
              <a:t> </a:t>
            </a:r>
            <a:r>
              <a:rPr sz="819" b="0">
                <a:solidFill>
                  <a:srgbClr val="34424D"/>
                </a:solidFill>
                <a:latin typeface="Arial"/>
              </a:rPr>
              <a:t>says deep learning is core to trading and models drive a significant fraction of trading.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1">
                <a:solidFill>
                  <a:srgbClr val="34424D"/>
                </a:solidFill>
                <a:latin typeface="Arial"/>
              </a:rPr>
              <a:t>Jane Street</a:t>
            </a:r>
            <a:r>
              <a:rPr sz="819" b="0">
                <a:solidFill>
                  <a:srgbClr val="34424D"/>
                </a:solidFill>
                <a:latin typeface="Arial"/>
              </a:rPr>
              <a:t> </a:t>
            </a:r>
            <a:r>
              <a:rPr sz="819" b="0">
                <a:solidFill>
                  <a:srgbClr val="34424D"/>
                </a:solidFill>
                <a:latin typeface="Arial"/>
              </a:rPr>
              <a:t>says neural-network models drive trading strategies and are studied in production.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1">
                <a:solidFill>
                  <a:srgbClr val="34424D"/>
                </a:solidFill>
                <a:latin typeface="Arial"/>
              </a:rPr>
              <a:t>XTX</a:t>
            </a:r>
            <a:r>
              <a:rPr sz="819" b="0">
                <a:solidFill>
                  <a:srgbClr val="34424D"/>
                </a:solidFill>
                <a:latin typeface="Arial"/>
              </a:rPr>
              <a:t> </a:t>
            </a:r>
            <a:r>
              <a:rPr sz="819" b="0">
                <a:solidFill>
                  <a:srgbClr val="34424D"/>
                </a:solidFill>
                <a:latin typeface="Arial"/>
              </a:rPr>
              <a:t>says machine-learning forecasts for 50,000+ instruments are used to trade and provide liquidity.</a:t>
            </a:r>
          </a:p>
          <a:p>
            <a:pPr>
              <a:spcAft>
                <a:spcPts val="100"/>
              </a:spcAft>
            </a:pPr>
            <a:r>
              <a:rPr sz="819">
                <a:solidFill>
                  <a:srgbClr val="17212C"/>
                </a:solidFill>
                <a:latin typeface="Arial"/>
              </a:rPr>
              <a:t>• </a:t>
            </a:r>
            <a:r>
              <a:rPr sz="819" b="1">
                <a:solidFill>
                  <a:srgbClr val="34424D"/>
                </a:solidFill>
                <a:latin typeface="Arial"/>
              </a:rPr>
              <a:t>Citadel Securities</a:t>
            </a:r>
            <a:r>
              <a:rPr sz="819" b="0">
                <a:solidFill>
                  <a:srgbClr val="34424D"/>
                </a:solidFill>
                <a:latin typeface="Arial"/>
              </a:rPr>
              <a:t> </a:t>
            </a:r>
            <a:r>
              <a:rPr sz="819" b="0">
                <a:solidFill>
                  <a:srgbClr val="34424D"/>
                </a:solidFill>
                <a:latin typeface="Arial"/>
              </a:rPr>
              <a:t>describes deep learning, time-series and representation models deployed in live market-making / trading contexts.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532120"/>
            <a:ext cx="4187952" cy="1005840"/>
          </a:xfrm>
          <a:prstGeom prst="roundRect">
            <a:avLst/>
          </a:prstGeom>
          <a:solidFill>
            <a:srgbClr val="F7F4EC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5632704"/>
            <a:ext cx="3931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1">
                <a:solidFill>
                  <a:srgbClr val="17212C"/>
                </a:solidFill>
                <a:latin typeface="Arial"/>
              </a:rPr>
              <a:t>Monetisable 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5879592"/>
            <a:ext cx="3931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19" b="0">
                <a:solidFill>
                  <a:srgbClr val="45535E"/>
                </a:solidFill>
                <a:latin typeface="Arial"/>
              </a:rPr>
              <a:t>tested alphas, trained predictive engines, validated features, accepted models, client-use patterns, production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5532120"/>
            <a:ext cx="4187952" cy="1005840"/>
          </a:xfrm>
          <a:prstGeom prst="roundRect">
            <a:avLst/>
          </a:prstGeom>
          <a:solidFill>
            <a:srgbClr val="F7F4EC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7176" y="5632704"/>
            <a:ext cx="3931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1">
                <a:solidFill>
                  <a:srgbClr val="17212C"/>
                </a:solidFill>
                <a:latin typeface="Arial"/>
              </a:rPr>
              <a:t>Miner’s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5879592"/>
            <a:ext cx="3931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19" b="0">
                <a:solidFill>
                  <a:srgbClr val="45535E"/>
                </a:solidFill>
                <a:latin typeface="Arial"/>
              </a:rPr>
              <a:t>data pipeline, system wiring, research APIs, software libraries, simulation, build/test infrastructure, hardware and compute.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5532120"/>
            <a:ext cx="4187952" cy="1005840"/>
          </a:xfrm>
          <a:prstGeom prst="roundRect">
            <a:avLst/>
          </a:prstGeom>
          <a:solidFill>
            <a:srgbClr val="F7F4EC"/>
          </a:solidFill>
          <a:ln w="1016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5632704"/>
            <a:ext cx="3931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1">
                <a:solidFill>
                  <a:srgbClr val="17212C"/>
                </a:solidFill>
                <a:latin typeface="Arial"/>
              </a:rPr>
              <a:t>Institutional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5879592"/>
            <a:ext cx="3931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19" b="0">
                <a:solidFill>
                  <a:srgbClr val="45535E"/>
                </a:solidFill>
                <a:latin typeface="Arial"/>
              </a:rPr>
              <a:t>RAG memory, research ledgers, failure history, quant judgement embedded in tests, conventions and approval gates.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720840"/>
            <a:ext cx="12874752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1">
                <a:solidFill>
                  <a:srgbClr val="66727E"/>
                </a:solidFill>
                <a:latin typeface="Arial"/>
              </a:rPr>
              <a:t>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6885431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Stanford HAI — 2026 AI Index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7022592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OpenAI Help Center — ChatGPT Release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7159751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Anthropic — Claude Platform Release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7296912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WorldQuant BRAIN — Consultant 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6885431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6"/>
              </a:rPr>
              <a:t>Hudson River Trading — Machine Learning &amp;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7022592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7"/>
              </a:rPr>
              <a:t>Jane Street — 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7159751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8"/>
              </a:rPr>
              <a:t>XTX Markets — firm description and ML forecast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1424" y="7296912"/>
            <a:ext cx="6364224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680" b="0">
                <a:solidFill>
                  <a:srgbClr val="2E6C9B"/>
                </a:solidFill>
                <a:latin typeface="Arial"/>
                <a:hlinkClick r:id="rId9"/>
              </a:rPr>
              <a:t>Citadel Securities — Deep Learning ML Researcher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