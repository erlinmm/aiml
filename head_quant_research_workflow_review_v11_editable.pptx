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udsonrivertrading.com/machine-learning/" TargetMode="External"/><Relationship Id="rId3" Type="http://schemas.openxmlformats.org/officeDocument/2006/relationships/hyperlink" Target="https://www.hudsonrivertrading.com/hrt-job/ai-researcher-llms-2/" TargetMode="External"/><Relationship Id="rId4" Type="http://schemas.openxmlformats.org/officeDocument/2006/relationships/hyperlink" Target="https://www.hudsonrivertrading.com/hrt-job/experienced-software-engineer-ai-tools-2/" TargetMode="External"/><Relationship Id="rId5" Type="http://schemas.openxmlformats.org/officeDocument/2006/relationships/hyperlink" Target="https://omny.fm/shows/odd-lots/inside-hudson-river-tradings-blistering-token-bur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umptrading.com/ai-ml" TargetMode="External"/><Relationship Id="rId3" Type="http://schemas.openxmlformats.org/officeDocument/2006/relationships/hyperlink" Target="https://icml.cc/virtual/2026/75722" TargetMode="External"/><Relationship Id="rId4" Type="http://schemas.openxmlformats.org/officeDocument/2006/relationships/hyperlink" Target="https://iclr.cc/Expo/Conferences/2026/Exp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anestreet.com/join-jane-street/machine-learning/" TargetMode="External"/><Relationship Id="rId3" Type="http://schemas.openxmlformats.org/officeDocument/2006/relationships/hyperlink" Target="https://www.janestreet.com/join-jane-street/programs-and-events/visiting-researcher/" TargetMode="External"/><Relationship Id="rId4" Type="http://schemas.openxmlformats.org/officeDocument/2006/relationships/hyperlink" Target="https://ai.engineer/talks/building-ai-powered-developer-tools-at-jane-stree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txmarkets.com/" TargetMode="External"/><Relationship Id="rId3" Type="http://schemas.openxmlformats.org/officeDocument/2006/relationships/hyperlink" Target="https://www.xtxmarkets.com/tech/2025-ternfs/" TargetMode="External"/><Relationship Id="rId4" Type="http://schemas.openxmlformats.org/officeDocument/2006/relationships/hyperlink" Target="https://careerservices.fas.harvard.edu/jobs/xtx-markets-quantitative-researcher-deep-learning/" TargetMode="External"/><Relationship Id="rId5" Type="http://schemas.openxmlformats.org/officeDocument/2006/relationships/hyperlink" Target="https://job-boards.greenhouse.io/xtxmarketstechnologies/jobs/627445800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tadelsecurities.com/careers/details/deep-learning-ml-researcher/" TargetMode="External"/><Relationship Id="rId3" Type="http://schemas.openxmlformats.org/officeDocument/2006/relationships/hyperlink" Target="https://www.citadelsecurities.com/careers/details/machine-learning-engineer/" TargetMode="External"/><Relationship Id="rId4" Type="http://schemas.openxmlformats.org/officeDocument/2006/relationships/hyperlink" Target="https://www.reuters.com/business/citadel-debuts-new-ai-tool-equities-investors-cto-subramanian-says-2025-12-03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worldquant.com/ideas/the-power-of-exponential-thinking/" TargetMode="External"/><Relationship Id="rId4" Type="http://schemas.openxmlformats.org/officeDocument/2006/relationships/hyperlink" Target="https://www.oreilly.com/library/view/finding-alphas-2nd/9781119571216/f04.x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wosigma.com/businesses/investment-management/" TargetMode="External"/><Relationship Id="rId3" Type="http://schemas.openxmlformats.org/officeDocument/2006/relationships/hyperlink" Target="https://www.twosigma.com/articles/treating-data-as-code-at-two-sigma/" TargetMode="External"/><Relationship Id="rId4" Type="http://schemas.openxmlformats.org/officeDocument/2006/relationships/hyperlink" Target="https://www.sec.gov/files/litigation/admin/2025/34-102207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hudsonrivertrading.com/machine-learning/" TargetMode="External"/><Relationship Id="rId4" Type="http://schemas.openxmlformats.org/officeDocument/2006/relationships/hyperlink" Target="https://icml.cc/virtual/2026/75722" TargetMode="External"/><Relationship Id="rId5" Type="http://schemas.openxmlformats.org/officeDocument/2006/relationships/hyperlink" Target="https://www.twosigma.com/articles/treating-data-as-code-at-two-sigma/" TargetMode="External"/><Relationship Id="rId6" Type="http://schemas.openxmlformats.org/officeDocument/2006/relationships/hyperlink" Target="https://www.janestreet.com/join-jane-street/machine-learning/" TargetMode="External"/><Relationship Id="rId7" Type="http://schemas.openxmlformats.org/officeDocument/2006/relationships/hyperlink" Target="https://ai.engineer/talks/building-ai-powered-developer-tools-at-jane-street" TargetMode="External"/><Relationship Id="rId8" Type="http://schemas.openxmlformats.org/officeDocument/2006/relationships/hyperlink" Target="https://www.reuters.com/business/citadel-debuts-new-ai-tool-equities-investors-cto-subramanian-says-2025-12-03/" TargetMode="External"/><Relationship Id="rId9" Type="http://schemas.openxmlformats.org/officeDocument/2006/relationships/hyperlink" Target="https://www.xtxmarkets.com/" TargetMode="External"/><Relationship Id="rId10" Type="http://schemas.openxmlformats.org/officeDocument/2006/relationships/hyperlink" Target="https://www.citadelsecurities.com/careers/details/deep-learning-ml-researcher/" TargetMode="External"/><Relationship Id="rId11" Type="http://schemas.openxmlformats.org/officeDocument/2006/relationships/hyperlink" Target="https://www.sec.gov/files/litigation/admin/2025/34-102207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i.stanford.edu/ai-index/2026-ai-index-report" TargetMode="External"/><Relationship Id="rId3" Type="http://schemas.openxmlformats.org/officeDocument/2006/relationships/hyperlink" Target="https://openai.com/products/release-notes/" TargetMode="External"/><Relationship Id="rId4" Type="http://schemas.openxmlformats.org/officeDocument/2006/relationships/hyperlink" Target="https://platform.claude.com/docs/en/release-notes/overview" TargetMode="External"/><Relationship Id="rId5" Type="http://schemas.openxmlformats.org/officeDocument/2006/relationships/hyperlink" Target="https://worldquantbrain.com/consultant" TargetMode="External"/><Relationship Id="rId6" Type="http://schemas.openxmlformats.org/officeDocument/2006/relationships/hyperlink" Target="https://www.hudsonrivertrading.com/machine-learning/" TargetMode="External"/><Relationship Id="rId7" Type="http://schemas.openxmlformats.org/officeDocument/2006/relationships/hyperlink" Target="https://www.janestreet.com/join-jane-street/machine-learning/" TargetMode="External"/><Relationship Id="rId8" Type="http://schemas.openxmlformats.org/officeDocument/2006/relationships/hyperlink" Target="https://www.xtxmarkets.com/" TargetMode="External"/><Relationship Id="rId9" Type="http://schemas.openxmlformats.org/officeDocument/2006/relationships/hyperlink" Target="https://www.citadelsecurities.com/careers/details/deep-learning-ml-researcher/" TargetMode="External"/><Relationship Id="rId10" Type="http://schemas.openxmlformats.org/officeDocument/2006/relationships/hyperlink" Target="https://icml.cc/virtual/2026/75722" TargetMode="External"/><Relationship Id="rId11" Type="http://schemas.openxmlformats.org/officeDocument/2006/relationships/hyperlink" Target="https://www.twosigma.com/articles/treating-data-as-code-at-two-sigma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88920"/>
            <a:ext cx="11887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212C"/>
                </a:solidFill>
                <a:latin typeface="Arial"/>
              </a:rPr>
              <a:t>How firms are organizing quantitative work around stronger machine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862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66727E"/>
                </a:solidFill>
                <a:latin typeface="Arial"/>
              </a:rPr>
              <a:t>A compact review for a Markets Quant audience: research workflow, data, controls, software plumbing and reusable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Hudson River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HRT: machine work is embedded in a firm-level research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Public materials link predictive models, internal language-model work, tool access, evaluation and trading research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Deep learning is described as core to trading; researchers work on featurization, architecture, training dynamics and trading decisions.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LLM researcher role covers tokenizer and data mixture, pre-training, post-training, evaluation and serving.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AI Tools role includes internal-resource access, code fine-tunes, assistant tooling, sandboxing and autonomous coding-agent evaluation.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Public discussion includes coding support, experiment ideation, experiment monitoring and comparison of machine-generated signal ideas with human signal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set up the trading or research question and the evaluation context.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Engineering teams wire models into internal resources and controlled tooling.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Trading judgement and audited systems remain part of the path from model output to market action.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Useful machine output is shown as part of an ongoing research workflow rather than a standalone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Machine assistance is visible around coding, experiment ideas and experiment monitoring.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Define meaningful experiments; review whether the result changes the research direction.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Data / context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Predictive work is tied to featurization and data representation.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Specify the market state, data convention and target that the machine should work 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Tools / controls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Internal resources, sandboxing and coding-agent evaluation are explicit build areas.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Make machine work inspectable, reproducible and safe enough for internal workflows.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Hudson River Trading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useful market representation and correct data mixture for the task.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internal-resource access, sandboxing and code/research tools.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trained predictive models and the trading systems around their outputs.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Evaluation / memory: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comparing machine output with human baselines and feeding results back into research.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Hudson River Trading — Machine Learning &amp; AI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Hudson River Trading — AI Researcher, LLMs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Hudson River Trading — Experienced Software Engineer, AI Tools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5"/>
              </a:rPr>
              <a:t>Odd Lots — Inside Hudson River Trading’s Blistering Token Burn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Jump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Jump: research agents are treated as finance-specific systems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Jump’s public material gives the clearest view of point-in-time discipline, trace capture and harness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Jump describes machine learning as integrated across trading, research and core infrastructure.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Examples include time-series forecasting, unstructured-data signal generation, LLM agents and AI-enabled software tools.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Public scale claims include 10,000+ compute nodes, 5M+ simulations daily, 50+ AI tools used daily and 75%+ weekly LLM usage.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ICLR material describes fine-tuned LLMs producing live trading signals and multi-agent forecasts used by human traders and automated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ICML material starts from real historical research questions and fixes what information was knowable at the time.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Runs capture prompts, context, documents, tool calls, code, files, intermediate artefacts and final answers.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and engineers evaluate end-to-end outcomes plus trace-level and conditional-failure information.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Human traders are explicitly described as users of multi-agent forecasts alongside automated strategies.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Agents work on quant and engineering questions inside controlled historical setups.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Define the information set; inspect the trace rather than only the final answer.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Point-in-time boundaries and full trace capture are core parts of the setup.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Control leakage, adaptive search and failure modes in the research workflow.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Production use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Public material connects trading signals/forecasts to human traders and automated strategies.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Decide how a machine-generated forecast should be consumed, monitored and compared with alternatives.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Jump Trading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correct point-in-time state and knowable historical context.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tools, documents, code execution and run capture.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fine-tuned forecasts and trading signals that can be tested in the harness.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Evaluation / memory: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trace review, scorecards and failure decomposition.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Jump Trading — AI / ML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ICML 2026 — Multi-Agent System Design and Evaluation for Quantitative Finance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ICLR 2026 Expo — Jump Trading: Domain-Adapted Agents for Quantitative Research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Jane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Jane Street: useful model output is shaped by the codebase, data and executable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Jane Street connects neural models to trading strategies and language-model tooling to real developer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Jane Street says its ML team creates neural-network models that drive trading strategies.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firm describes market data as noisy, regime-changing and affected by its own actions.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Researchers, engineers and traders work together to train models, build systems and study model trades in production.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Developer tooling turns language-model output into candidate multi-file diffs evaluated against build and test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and traders study model trades and production behaviour.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Engineers build the infrastructure that makes model training and inference possible.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Human work appears in task construction, workspace context, build/test feedback and editor integration.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organisation uses parser, typechecker, compiler and test outcomes as executable feedback.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 / trading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Neural models drive trading strategies; teams study model trades in production.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Define targets, interpret production behaviour and decide when model behaviour is economically sensible.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Software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Code suggestions are evaluated as real diffs in real workspaces.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Convert judgement about code quality into repeatable build/test feedback.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Workspace snapshots and build feedback create a record of what useful and failed edits look like.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Preserve reusable examples and diagnostics from everyday work.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Jane Street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proprietary market data and production feedback affected by the firm’s own actions.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workspace state, build systems, tests and editor integration.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neural-network models that drive strategies and are studied in production.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Evaluation / memory: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executable feedback from parsing, typing, compiling and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Jane Street — Machine Learning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Jane Street — Visiting Researcher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AI Engineer World’s Fair — Building AI-Powered Developer Tools at Jane Street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XTX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XTX: the central object is a large forecasting system with heavy data and compute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XTX’s public descriptions are unusually direct about forecasts, instrument breadth and infrastructure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XTX says it uses state-of-the-art machine learning to produce price forecasts for more than 50,000 financial instruments.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Those forecasts are used to trade on exchanges and alternative venues and to provide differentiated liquidity to clients.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Public materials and roles point to large-scale time-series and cross-sectional prediction and modern deep-learning architectures.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TernFS is described as an exabyte-scale distributed filesystem supporting machine-learning workloads and high-throughput data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design prediction problems, objectives, evaluation approaches and scaling methods.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Engineering work covers storage, training and inference performance, compilers, bit-width numerics and model-to-hardware mapping.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Trading and client-liquidity systems use forecasts inside market access and pricing workflows.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Compute and storage are described as part of the research instrument.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Forecasts are produced across a very broad instrument universe.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Define targets, horizons, cross-sectional structure and validation rules.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Data platform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TernFS, storage scale and throughput are part of the public story.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Ensure the forecasting system receives reliable, usable and timely data.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Trading use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Forecasts feed exchange trading, alternative venues and liquidity provision.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Map forecasts into pricing, trading, inventory and execution decisions.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XTX Markets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broad, well-structured financial time-series and cross-sectional data.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TernFS, high-throughput storage and training/inference feeds.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price forecasts used for trading and client liquidity.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Infrastructure: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GPUs, storage, compilers, numerics and model-to-hardware performance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XTX Markets — firm description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XTX Markets — TernFS: an exabyte-scale distributed filesystem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Harvard Mignone Center — XTX Markets Quantitative Researcher, Deep Learning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5"/>
              </a:rPr>
              <a:t>XTX Markets — XTY Labs: Machine Learning 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Citadel / Citadel Securities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Citadel Securities: predictive models are connected to live market-making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The clearest public material comes from market-making roles; Citadel’s equities assistant gives a separate investor-workflow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Citadel Securities roles describe models built and deployed across equities, options, fixed income and derivatives using petabyte-scale data.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Model techniques include deep learning, sequence/time-series methods, representation learning and robustness across regimes.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stated goal is measurable P&amp;L impact or reduced risk/cost in live market-making or trading contexts.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A machine-learning engineering role describes internal deep-learning libraries, distributed workflows and infrastructure used by many researchers.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connect modeling work to market-making objectives and business processes.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Engineers maintain shared libraries and performance infrastructure for repeated model development.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Citadel’s reported equities assistant uses licensed research, filings, transcripts and internal strategy context to prepare investor research.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Investor judgement remains connected to portfolio and strategy context in the reported assistant workflow.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Trading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Predictive models are explicitly tied to market-making / trading impact.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Connect model design to risk, cost, execution and business objectives.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Internal libraries and distributed workflows support many researchers.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Turn individual model work into reusable departmental capability.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The assistant shortens research preparation with licensed and internal context.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Control what content and business context are available to the workflow.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Citadel / Citadel Securities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petabyte-scale market data and licensed/internal research context.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shared libraries, distributed workflows and investor research tools.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models deployed for live market-making/trading impact.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Production integration: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measurable P&amp;L, risk and cost outcomes rather than standalone model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Citadel Securities — Deep Learning ML Researcher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Citadel Securities — Machine Learning Engineer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Reuters — Citadel debuts new AI tool for equities investors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WorldQuant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WorldQuant: a standardized system turns distributed intelligence into alpha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WorldQuant is useful because it scaled a large human research funnel before the current wave of stronger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BRAIN provides a standardized environment for data fields, operators, simulation, competition and alpha submission.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Historical materials report very large candidate-alpha volumes and large research-consultant participation.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Current BRAIN material describes a global consultant community, multiple regions and broad data-field access.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platform makes many independent researchers produce comparable, executable research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institution defines the data, operators, testing surface and submission rules.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supply candidate intelligence at scale.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downstream work is selection, originality, correlation, combination, decay monitoring and portfolio use.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accumulated research history becomes valuable beyond any single alpha expression.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 supply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Distributed people generate large volumes of candidate alphas.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Standardize the research surface so intelligence can be compared and reused.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The public interface gives a common simulation and scoring environment.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Separate candidate generation from acceptance into the alpha library or portfolio process.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Large historical candidate volumes imply a substantial record of what has been tried.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Preserve failures, correlations, decay and reusable components.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WorldQuant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standardized data fields and agreed research primitives.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WebSim/BRAIN, operators, simulation and submission workflows.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candidate alphas, selected alphas and strategy construction.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Evaluation / memory: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originality, correlation, decay and accumulated research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WorldQuant — The Power of Exponential Thinking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O’Reilly — Finding Alphas, 2nd 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Two 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Two Sigma: data productization and model admission are visible parts of the investment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Two Sigma exposes institutional work around data, models, portfolio construction and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Two Sigma describes a platform built on people, technology and data, with sourcing/preparation, modeling, portfolio construction and execution as linked stages.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firm reports 10,000+ structured and unstructured data sources in a proprietary system.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data-as-code article describes versioning, tests, replay, lineage, CI/CD and data contracts.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The article explicitly notes that LLM and AI applications increase demand for high-quality data and data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Researchers turn data into features and models; portfolio construction combines independent forecasts, costs and risks.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SEC material describes a model approval process involving white papers, key metrics and correlation review.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Model files, parameters and production use are controlled objects.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19" b="0">
                <a:solidFill>
                  <a:srgbClr val="2F3D48"/>
                </a:solidFill>
                <a:latin typeface="Arial"/>
              </a:rPr>
              <a:t>• </a:t>
            </a:r>
            <a:r>
              <a:rPr sz="819" b="0">
                <a:solidFill>
                  <a:srgbClr val="2F3D48"/>
                </a:solidFill>
                <a:latin typeface="Arial"/>
              </a:rPr>
              <a:t>More generated research increases the value of data lineage, model documentation and portfolio admission discipline.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Data is treated as a governed product with tests, lineage and replay.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Maintain point-in-time state, data contracts and reproducible datasets.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Model control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PAM / Mini-PAM material describes documentation, metrics and correlation review.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Distinguish model creation from model admission.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Portfolio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Independent forecasts are combined with costs and risks into target allocations.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Judge whether a model or signal adds incremental portfolio value.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Where Two Sigma appears to place value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quality: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point-in-time data, versioning, tests, lineage and data contracts.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Data pipeline / system wiring: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treating data as a production software asset.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Models and strategies: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independent forecasts, features and portfolio construction.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Evaluation / memory: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model approval, parameter control, correlation review and portfolio admission.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Two Sigma — Investment Management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Two Sigma — Treating Data as Code at Two Sigma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Cross-firm reading by value aspect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Where different firms appear to place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664208"/>
          <a:ext cx="12874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703320"/>
                <a:gridCol w="6748272"/>
              </a:tblGrid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Value 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Firms where this is especially visible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2B4C64"/>
                          </a:solidFill>
                          <a:latin typeface="Arial"/>
                        </a:rPr>
                        <a:t>What appears to be high value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Data quality / point-in-time state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Two Sigma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Jump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Jane Street, Citadel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Reliable history, timestamp discipline, data contracts, and correct information sets for research and evaluation.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Data pipeline / system wiring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XTX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Jane Street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Two Sigma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HRT, Jump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Storage, build/test systems, internal-resource access, research APIs, sandboxing, and tool integration.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HRT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Jane Street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XTX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Citadel Securities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Trained predictive engines, selected alphas, strategies, forecasts and live model behaviour.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Evaluation / admission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Jump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Two Sigma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WorldQuant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PIT checks, trace review, scorecards, model documentation, correlation review, and acceptance gates.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Compute / hardware / performance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XTX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Jump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HRT, Citadel Securities, Jane Street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GPU/compute scale, storage throughput, low-latency systems, compilers, inference and model-to-hardware work.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Research memory / accumulated knowledge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WorldQuant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Two Sigma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Jump, Jane Street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History of tested candidates, failures, correlations, decay, code feedback and reusable components.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Business integration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Citadel Securities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</a:t>
                      </a:r>
                      <a:r>
                        <a:rPr sz="740" b="1">
                          <a:solidFill>
                            <a:srgbClr val="34424D"/>
                          </a:solidFill>
                          <a:latin typeface="Arial"/>
                        </a:rPr>
                        <a:t>XTX</a:t>
                      </a: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, HRT, Citadel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34424D"/>
                          </a:solidFill>
                          <a:latin typeface="Arial"/>
                        </a:rPr>
                        <a:t>Forecasts and research outputs connected to pricing, liquidity provision, market-making, risk, cost and portfolio workflows.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Hudson River Trading — Machine Learning &amp; AI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ICML 2026 — Multi-Agent System Design and Evaluation for Quantitative Finance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5"/>
              </a:rPr>
              <a:t>Two Sigma — Treating Data as Code at Two Sigma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6"/>
              </a:rPr>
              <a:t>Jane Street — Machine Learning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7"/>
              </a:rPr>
              <a:t>AI Engineer World’s Fair — Building AI-Powered Developer Tools at Jane Street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8"/>
              </a:rPr>
              <a:t>Reuters — Citadel debuts new AI tool for equities investors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9"/>
              </a:rPr>
              <a:t>XTX Markets — firm description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10"/>
              </a:rPr>
              <a:t>Citadel Securities — Deep Learning ML Researcher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11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Final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Quant roles: from sources of intelligence to miners and enablers of machine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12874752" cy="1115568"/>
          </a:xfrm>
          <a:prstGeom prst="roundRect">
            <a:avLst/>
          </a:prstGeom>
          <a:solidFill>
            <a:srgbClr val="F1F7FB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Machine intelligence keeps getting stronger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00" b="0">
                <a:solidFill>
                  <a:srgbClr val="2F3D48"/>
                </a:solidFill>
                <a:latin typeface="Arial"/>
              </a:rPr>
              <a:t>• </a:t>
            </a:r>
            <a:r>
              <a:rPr sz="800" b="0">
                <a:solidFill>
                  <a:srgbClr val="2F3D48"/>
                </a:solidFill>
                <a:latin typeface="Arial"/>
              </a:rPr>
              <a:t>Stanford HAI’s 2026 AI Index describes capability progress as accelerating, with large one-year improvements in coding and agent benchmarks.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00" b="0">
                <a:solidFill>
                  <a:srgbClr val="2F3D48"/>
                </a:solidFill>
                <a:latin typeface="Arial"/>
              </a:rPr>
              <a:t>• </a:t>
            </a:r>
            <a:r>
              <a:rPr sz="800" b="0">
                <a:solidFill>
                  <a:srgbClr val="2F3D48"/>
                </a:solidFill>
                <a:latin typeface="Arial"/>
              </a:rPr>
              <a:t>OpenAI and Anthropic release notes show model and agent-platform capabilities changing on short release cycles.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800" b="0">
                <a:solidFill>
                  <a:srgbClr val="2F3D48"/>
                </a:solidFill>
                <a:latin typeface="Arial"/>
              </a:rPr>
              <a:t>• </a:t>
            </a:r>
            <a:r>
              <a:rPr sz="800" b="0">
                <a:solidFill>
                  <a:srgbClr val="2F3D48"/>
                </a:solidFill>
                <a:latin typeface="Arial"/>
              </a:rPr>
              <a:t>A practical planning assumption is that next year’s model will be more capable than today’s model at coding, retrieval, tool use and research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926080"/>
            <a:ext cx="4187952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06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From crowdsourced intelligence to LLM-sourced intelligence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770" b="0">
                <a:solidFill>
                  <a:srgbClr val="2F3D48"/>
                </a:solidFill>
                <a:latin typeface="Arial"/>
              </a:rPr>
              <a:t> shows how a standardized research system can turn many external researchers into a structured alpha-candidate funnel.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0">
                <a:solidFill>
                  <a:srgbClr val="2F3D48"/>
                </a:solidFill>
                <a:latin typeface="Arial"/>
              </a:rPr>
              <a:t>The same idea becomes more powerful when candidate intelligence can come from LLMs: more hypotheses, variants, implementations and explanations can be produced at lower marginal cost.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0">
                <a:solidFill>
                  <a:srgbClr val="2F3D48"/>
                </a:solidFill>
                <a:latin typeface="Arial"/>
              </a:rPr>
              <a:t>The value still depends on the system around the candidate: data fields, operators, simulation, originality, correlation, decay and admission to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926080"/>
            <a:ext cx="4187952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Predictive engines mining market data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1">
                <a:solidFill>
                  <a:srgbClr val="2F3D48"/>
                </a:solidFill>
                <a:latin typeface="Arial"/>
              </a:rPr>
              <a:t>HRT</a:t>
            </a:r>
            <a:r>
              <a:rPr sz="770" b="0">
                <a:solidFill>
                  <a:srgbClr val="2F3D48"/>
                </a:solidFill>
                <a:latin typeface="Arial"/>
              </a:rPr>
              <a:t> says deep learning is core to trading and models drive a significant fraction of trading.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770" b="0">
                <a:solidFill>
                  <a:srgbClr val="2F3D48"/>
                </a:solidFill>
                <a:latin typeface="Arial"/>
              </a:rPr>
              <a:t> says neural-network models drive trading strategies and are studied in production.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1">
                <a:solidFill>
                  <a:srgbClr val="2F3D48"/>
                </a:solidFill>
                <a:latin typeface="Arial"/>
              </a:rPr>
              <a:t>XTX</a:t>
            </a:r>
            <a:r>
              <a:rPr sz="770" b="0">
                <a:solidFill>
                  <a:srgbClr val="2F3D48"/>
                </a:solidFill>
                <a:latin typeface="Arial"/>
              </a:rPr>
              <a:t> says ML forecasts for 50,000+ instruments are used to trade and provide liquidity.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1">
                <a:solidFill>
                  <a:srgbClr val="2F3D48"/>
                </a:solidFill>
                <a:latin typeface="Arial"/>
              </a:rPr>
              <a:t>Citadel Securities</a:t>
            </a:r>
            <a:r>
              <a:rPr sz="770" b="0">
                <a:solidFill>
                  <a:srgbClr val="2F3D48"/>
                </a:solidFill>
                <a:latin typeface="Arial"/>
              </a:rPr>
              <a:t> describes deep-learning/time-series/representation models deployed in live market-making or trading contexts.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926080"/>
            <a:ext cx="4133087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7212C"/>
                </a:solidFill>
                <a:latin typeface="Arial"/>
              </a:rPr>
              <a:t>Miner’s tools and institutional memory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0">
                <a:solidFill>
                  <a:srgbClr val="2F3D48"/>
                </a:solidFill>
                <a:latin typeface="Arial"/>
              </a:rPr>
              <a:t>Monetisable ores: tested alphas, trained predictive engines, validated features, accepted models, client-use patterns and production feedback.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0">
                <a:solidFill>
                  <a:srgbClr val="2F3D48"/>
                </a:solidFill>
                <a:latin typeface="Arial"/>
              </a:rPr>
              <a:t>Miner’s tools: data pipeline, system wiring, research APIs, software libraries, simulation, build/test infrastructure, hardware and compute.</a:t>
            </a:r>
          </a:p>
          <a:p>
            <a:pPr>
              <a:lnSpc>
                <a:spcPct val="103000"/>
              </a:lnSpc>
              <a:spcAft>
                <a:spcPts val="160"/>
              </a:spcAft>
            </a:pPr>
            <a:r>
              <a:rPr sz="770" b="0">
                <a:solidFill>
                  <a:srgbClr val="2F3D48"/>
                </a:solidFill>
                <a:latin typeface="Arial"/>
              </a:rPr>
              <a:t>• </a:t>
            </a:r>
            <a:r>
              <a:rPr sz="770" b="0">
                <a:solidFill>
                  <a:srgbClr val="2F3D48"/>
                </a:solidFill>
                <a:latin typeface="Arial"/>
              </a:rPr>
              <a:t>Institutional memory: RAG memory, research ledgers, failure history, quant judgement embedded in tests, conventions and approval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5358384"/>
            <a:ext cx="12874752" cy="1298448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C7658"/>
                </a:solidFill>
                <a:latin typeface="Arial"/>
              </a:rPr>
              <a:t>Value placement across the chain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Before the call: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data quality, permissions, conventions, history and context assembly.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During the call: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allowed tools, calculation environment, retrieval and compute budget.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After the call: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tests, PIT checks, portfolio/risk review, documentation and memory.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730" b="0">
                <a:solidFill>
                  <a:srgbClr val="35453D"/>
                </a:solidFill>
                <a:latin typeface="Arial"/>
              </a:rPr>
              <a:t>• </a:t>
            </a:r>
            <a:r>
              <a:rPr sz="730" b="1">
                <a:solidFill>
                  <a:srgbClr val="35453D"/>
                </a:solidFill>
                <a:latin typeface="Arial"/>
              </a:rPr>
              <a:t>Across runs:</a:t>
            </a:r>
            <a:r>
              <a:rPr sz="730" b="0">
                <a:solidFill>
                  <a:srgbClr val="35453D"/>
                </a:solidFill>
                <a:latin typeface="Arial"/>
              </a:rPr>
              <a:t> value is placed in the accumulated knowledge held in systems and in the quants who design and maintain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67728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66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00">
                <a:solidFill>
                  <a:srgbClr val="2E6C9B"/>
                </a:solidFill>
                <a:latin typeface="Arial"/>
                <a:hlinkClick r:id="rId2"/>
              </a:rPr>
              <a:t>Stanford HAI — 2026 AI Index Report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3"/>
              </a:rPr>
              <a:t>OpenAI — Release Notes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4"/>
              </a:rPr>
              <a:t>Anthropic — Claude Platform Release Notes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5"/>
              </a:rPr>
              <a:t>WorldQuant BRAIN — Consultant Program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6"/>
              </a:rPr>
              <a:t>Hudson River Trading — Machine Learning &amp; AI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7"/>
              </a:rPr>
              <a:t>Jane Street — Machine Learning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8"/>
              </a:rPr>
              <a:t>XTX Markets — firm description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9"/>
              </a:rPr>
              <a:t>Citadel Securities — Deep Learning ML Researcher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10"/>
              </a:rPr>
              <a:t>ICML 2026 — Multi-Agent System Design and Evaluation for Quantitative Finance</a:t>
            </a:r>
            <a:r>
              <a:rPr sz="600">
                <a:solidFill>
                  <a:srgbClr val="66727E"/>
                </a:solidFill>
                <a:latin typeface="Arial"/>
              </a:rPr>
              <a:t>; </a:t>
            </a:r>
            <a:r>
              <a:rPr sz="600">
                <a:solidFill>
                  <a:srgbClr val="2E6C9B"/>
                </a:solidFill>
                <a:latin typeface="Arial"/>
                <a:hlinkClick r:id="rId11"/>
              </a:rPr>
              <a:t>Two Sigma — Treating Data as Code at Two Sigma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